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Lst>
  <p:sldSz cx="18288000" cy="10287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80" d="100"/>
          <a:sy n="80" d="100"/>
        </p:scale>
        <p:origin x="824"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ftr" idx="1"/>
          </p:nvPr>
        </p:nvSpPr>
        <p:spPr/>
        <p:txBody>
          <a:bodyPr/>
          <a:lstStyle/>
          <a:p>
            <a:r>
              <a:t>Footer</a:t>
            </a:r>
          </a:p>
        </p:txBody>
      </p:sp>
      <p:sp>
        <p:nvSpPr>
          <p:cNvPr id="3" name="PlaceHolder 4"/>
          <p:cNvSpPr>
            <a:spLocks noGrp="1"/>
          </p:cNvSpPr>
          <p:nvPr>
            <p:ph type="sldNum" idx="2"/>
          </p:nvPr>
        </p:nvSpPr>
        <p:spPr/>
        <p:txBody>
          <a:bodyPr/>
          <a:lstStyle/>
          <a:p>
            <a:fld id="{47308A26-48A3-4BED-901C-946BB72AD2AA}"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459F5DAC-B869-46B8-A9EA-14E0ECF40BED}"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0A9468D6-CE53-4D16-B0D6-3898F504459A}"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8"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CD7A28F6-1F50-4EB8-A0B0-8BFA5F5D4D19}"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6B98DD2A-5698-4297-BF6B-0ECE808351FC}" type="slidenum">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9" name="PlaceHolder 2"/>
          <p:cNvSpPr>
            <a:spLocks noGrp="1"/>
          </p:cNvSpPr>
          <p:nvPr>
            <p:ph/>
          </p:nvPr>
        </p:nvSpPr>
        <p:spPr>
          <a:xfrm>
            <a:off x="91440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3"/>
          <p:cNvSpPr>
            <a:spLocks noGrp="1"/>
          </p:cNvSpPr>
          <p:nvPr>
            <p:ph/>
          </p:nvPr>
        </p:nvSpPr>
        <p:spPr>
          <a:xfrm>
            <a:off x="934812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55DCB369-9547-40E9-B7D8-BC5C1B0826BF}" type="slidenum">
              <a:t>‹#›</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8481D4EB-DE22-47AC-8819-9B05A0AF3AC2}" type="slidenum">
              <a:t>‹#›</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22"/>
          </p:nvPr>
        </p:nvSpPr>
        <p:spPr/>
        <p:txBody>
          <a:bodyPr/>
          <a:lstStyle/>
          <a:p>
            <a:r>
              <a:t>Footer</a:t>
            </a:r>
          </a:p>
        </p:txBody>
      </p:sp>
      <p:sp>
        <p:nvSpPr>
          <p:cNvPr id="4" name="PlaceHolder 3"/>
          <p:cNvSpPr>
            <a:spLocks noGrp="1"/>
          </p:cNvSpPr>
          <p:nvPr>
            <p:ph type="sldNum" idx="23"/>
          </p:nvPr>
        </p:nvSpPr>
        <p:spPr/>
        <p:txBody>
          <a:bodyPr/>
          <a:lstStyle/>
          <a:p>
            <a:fld id="{6BC442E3-3D39-4E79-B6AE-D9860FB9DBD9}" type="slidenum">
              <a:t>‹#›</a:t>
            </a:fld>
            <a:endParaRPr/>
          </a:p>
        </p:txBody>
      </p:sp>
      <p:sp>
        <p:nvSpPr>
          <p:cNvPr id="5" name="PlaceHolder 4"/>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E854A0F8-245F-4A6D-B55D-B28C09A4FDC2}" type="slidenum">
              <a:t>‹#›</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65B3DBE7-7A6D-4129-86A8-0F42D8DDFFCD}" type="slidenum">
              <a:t>‹#›</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09949D96-8034-448B-97CC-1FCF4294A3A2}"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5" name="PlaceHolder 2"/>
          <p:cNvSpPr>
            <a:spLocks noGrp="1"/>
          </p:cNvSpPr>
          <p:nvPr>
            <p:ph type="ftr" idx="1"/>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2" name="PlaceHolder 3"/>
          <p:cNvSpPr>
            <a:spLocks noGrp="1"/>
          </p:cNvSpPr>
          <p:nvPr>
            <p:ph type="sldNum" idx="2"/>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75D8AC19-5C4A-4ED3-972E-5127F0731256}"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 name="PlaceHolder 4"/>
          <p:cNvSpPr>
            <a:spLocks noGrp="1"/>
          </p:cNvSpPr>
          <p:nvPr>
            <p:ph type="dt" idx="3"/>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7" name="PlaceHolder 2"/>
          <p:cNvSpPr>
            <a:spLocks noGrp="1"/>
          </p:cNvSpPr>
          <p:nvPr>
            <p:ph type="sldNum" idx="5"/>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6C64BD49-EF2B-4758-832B-1848878C5D57}"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8" name="PlaceHolder 3"/>
          <p:cNvSpPr>
            <a:spLocks noGrp="1"/>
          </p:cNvSpPr>
          <p:nvPr>
            <p:ph type="dt" idx="6"/>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10" name="PlaceHolder 2"/>
          <p:cNvSpPr>
            <a:spLocks noGrp="1"/>
          </p:cNvSpPr>
          <p:nvPr>
            <p:ph type="sldNum" idx="8"/>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5EC10266-1719-4C6B-9BD7-4D7F2E65E46F}"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11" name="PlaceHolder 3"/>
          <p:cNvSpPr>
            <a:spLocks noGrp="1"/>
          </p:cNvSpPr>
          <p:nvPr>
            <p:ph type="dt" idx="9"/>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3" name="PlaceHolder 2"/>
          <p:cNvSpPr>
            <a:spLocks noGrp="1"/>
          </p:cNvSpPr>
          <p:nvPr>
            <p:ph type="body"/>
          </p:nvPr>
        </p:nvSpPr>
        <p:spPr>
          <a:xfrm>
            <a:off x="914400" y="2406960"/>
            <a:ext cx="1645848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4" name="PlaceHolder 3"/>
          <p:cNvSpPr>
            <a:spLocks noGrp="1"/>
          </p:cNvSpPr>
          <p:nvPr>
            <p:ph type="ftr" idx="10"/>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15" name="PlaceHolder 4"/>
          <p:cNvSpPr>
            <a:spLocks noGrp="1"/>
          </p:cNvSpPr>
          <p:nvPr>
            <p:ph type="sldNum" idx="11"/>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E4458062-C9BE-4D31-AB18-8D81DDBAA0A7}"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16" name="PlaceHolder 5"/>
          <p:cNvSpPr>
            <a:spLocks noGrp="1"/>
          </p:cNvSpPr>
          <p:nvPr>
            <p:ph type="dt" idx="12"/>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20" name="PlaceHolder 2"/>
          <p:cNvSpPr>
            <a:spLocks noGrp="1"/>
          </p:cNvSpPr>
          <p:nvPr>
            <p:ph type="sldNum" idx="14"/>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E3D6E668-0F45-4B47-AC06-76049ADC8AB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21" name="PlaceHolder 3"/>
          <p:cNvSpPr>
            <a:spLocks noGrp="1"/>
          </p:cNvSpPr>
          <p:nvPr>
            <p:ph type="dt" idx="15"/>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3" name="PlaceHolder 2"/>
          <p:cNvSpPr>
            <a:spLocks noGrp="1"/>
          </p:cNvSpPr>
          <p:nvPr>
            <p:ph type="body"/>
          </p:nvPr>
        </p:nvSpPr>
        <p:spPr>
          <a:xfrm>
            <a:off x="914400" y="2406960"/>
            <a:ext cx="803124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4" name="PlaceHolder 3"/>
          <p:cNvSpPr>
            <a:spLocks noGrp="1"/>
          </p:cNvSpPr>
          <p:nvPr>
            <p:ph type="body"/>
          </p:nvPr>
        </p:nvSpPr>
        <p:spPr>
          <a:xfrm>
            <a:off x="9348120" y="2406960"/>
            <a:ext cx="803124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5" name="PlaceHolder 4"/>
          <p:cNvSpPr>
            <a:spLocks noGrp="1"/>
          </p:cNvSpPr>
          <p:nvPr>
            <p:ph type="ftr" idx="16"/>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26" name="PlaceHolder 5"/>
          <p:cNvSpPr>
            <a:spLocks noGrp="1"/>
          </p:cNvSpPr>
          <p:nvPr>
            <p:ph type="sldNum" idx="17"/>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1A32118A-3D23-41EF-ACA4-1F61654845D0}"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27" name="PlaceHolder 6"/>
          <p:cNvSpPr>
            <a:spLocks noGrp="1"/>
          </p:cNvSpPr>
          <p:nvPr>
            <p:ph type="dt" idx="18"/>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32" name="PlaceHolder 2"/>
          <p:cNvSpPr>
            <a:spLocks noGrp="1"/>
          </p:cNvSpPr>
          <p:nvPr>
            <p:ph type="sldNum" idx="20"/>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E5698EA5-72B0-49F5-9514-81756798C21C}"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3" name="PlaceHolder 3"/>
          <p:cNvSpPr>
            <a:spLocks noGrp="1"/>
          </p:cNvSpPr>
          <p:nvPr>
            <p:ph type="dt" idx="21"/>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35" name="PlaceHolder 2"/>
          <p:cNvSpPr>
            <a:spLocks noGrp="1"/>
          </p:cNvSpPr>
          <p:nvPr>
            <p:ph type="ftr" idx="22"/>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36" name="PlaceHolder 3"/>
          <p:cNvSpPr>
            <a:spLocks noGrp="1"/>
          </p:cNvSpPr>
          <p:nvPr>
            <p:ph type="sldNum" idx="23"/>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AB86CFA8-92FC-483E-B4ED-EAC41758F4B1}"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7" name="PlaceHolder 4"/>
          <p:cNvSpPr>
            <a:spLocks noGrp="1"/>
          </p:cNvSpPr>
          <p:nvPr>
            <p:ph type="dt" idx="24"/>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40" name="PlaceHolder 2"/>
          <p:cNvSpPr>
            <a:spLocks noGrp="1"/>
          </p:cNvSpPr>
          <p:nvPr>
            <p:ph type="sldNum" idx="26"/>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7BE82E2E-84F3-4303-87E9-45B4F46468AC}"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1" name="PlaceHolder 3"/>
          <p:cNvSpPr>
            <a:spLocks noGrp="1"/>
          </p:cNvSpPr>
          <p:nvPr>
            <p:ph type="dt" idx="27"/>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42"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43"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45" name="PlaceHolder 2"/>
          <p:cNvSpPr>
            <a:spLocks noGrp="1"/>
          </p:cNvSpPr>
          <p:nvPr>
            <p:ph type="sldNum" idx="29"/>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48E42333-CFE0-43BB-9792-684DE67F36B8}"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6" name="PlaceHolder 3"/>
          <p:cNvSpPr>
            <a:spLocks noGrp="1"/>
          </p:cNvSpPr>
          <p:nvPr>
            <p:ph type="dt" idx="30"/>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332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000000"/>
                </a:solidFill>
                <a:latin typeface="Times New Roman"/>
              </a:defRPr>
            </a:lvl1pPr>
          </a:lstStyle>
          <a:p>
            <a:pPr indent="0" algn="ctr" defTabSz="914400">
              <a:lnSpc>
                <a:spcPct val="100000"/>
              </a:lnSpc>
              <a:buNone/>
              <a:tabLst>
                <a:tab pos="0" algn="l"/>
              </a:tabLst>
            </a:pPr>
            <a:r>
              <a:rPr lang="en-US" sz="1400" b="0" strike="noStrike" spc="-1">
                <a:solidFill>
                  <a:srgbClr val="000000"/>
                </a:solidFill>
                <a:latin typeface="Times New Roman"/>
              </a:rPr>
              <a:t>&lt;footer&gt;</a:t>
            </a:r>
          </a:p>
        </p:txBody>
      </p:sp>
      <p:sp>
        <p:nvSpPr>
          <p:cNvPr id="48" name="PlaceHolder 2"/>
          <p:cNvSpPr>
            <a:spLocks noGrp="1"/>
          </p:cNvSpPr>
          <p:nvPr>
            <p:ph type="sldNum" idx="32"/>
          </p:nvPr>
        </p:nvSpPr>
        <p:spPr>
          <a:xfrm>
            <a:off x="6553080" y="6356520"/>
            <a:ext cx="2131560" cy="36288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9246B29C-0204-479F-9927-59D70B1EE250}"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9" name="PlaceHolder 3"/>
          <p:cNvSpPr>
            <a:spLocks noGrp="1"/>
          </p:cNvSpPr>
          <p:nvPr>
            <p:ph type="dt" idx="33"/>
          </p:nvPr>
        </p:nvSpPr>
        <p:spPr>
          <a:xfrm>
            <a:off x="457200" y="6356520"/>
            <a:ext cx="2131560" cy="36288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grpSp>
        <p:nvGrpSpPr>
          <p:cNvPr id="50" name="Group 2"/>
          <p:cNvGrpSpPr/>
          <p:nvPr/>
        </p:nvGrpSpPr>
        <p:grpSpPr>
          <a:xfrm>
            <a:off x="0" y="0"/>
            <a:ext cx="18285840" cy="10284840"/>
            <a:chOff x="0" y="0"/>
            <a:chExt cx="18285840" cy="10284840"/>
          </a:xfrm>
        </p:grpSpPr>
        <p:sp>
          <p:nvSpPr>
            <p:cNvPr id="51" name="Freeform 3"/>
            <p:cNvSpPr/>
            <p:nvPr/>
          </p:nvSpPr>
          <p:spPr>
            <a:xfrm>
              <a:off x="0" y="0"/>
              <a:ext cx="18285840" cy="10284840"/>
            </a:xfrm>
            <a:custGeom>
              <a:avLst/>
              <a:gdLst>
                <a:gd name="textAreaLeft" fmla="*/ 0 w 18285840"/>
                <a:gd name="textAreaRight" fmla="*/ 18288000 w 18285840"/>
                <a:gd name="textAreaTop" fmla="*/ 0 h 10284840"/>
                <a:gd name="textAreaBottom" fmla="*/ 10287000 h 10284840"/>
              </a:gdLst>
              <a:ahLst/>
              <a:cxnLst/>
              <a:rect l="textAreaLeft" t="textAreaTop" r="textAreaRight" b="textAreaBottom"/>
              <a:pathLst>
                <a:path w="24384000" h="13716000">
                  <a:moveTo>
                    <a:pt x="0" y="0"/>
                  </a:moveTo>
                  <a:lnTo>
                    <a:pt x="24384000" y="0"/>
                  </a:lnTo>
                  <a:lnTo>
                    <a:pt x="24384000" y="13716000"/>
                  </a:lnTo>
                  <a:lnTo>
                    <a:pt x="0" y="13716000"/>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nvGrpSpPr>
            <p:cNvPr id="52" name="Group 4"/>
            <p:cNvGrpSpPr/>
            <p:nvPr/>
          </p:nvGrpSpPr>
          <p:grpSpPr>
            <a:xfrm>
              <a:off x="13716000" y="1589760"/>
              <a:ext cx="1331280" cy="1848240"/>
              <a:chOff x="13716000" y="1589760"/>
              <a:chExt cx="1331280" cy="1848240"/>
            </a:xfrm>
          </p:grpSpPr>
          <p:sp>
            <p:nvSpPr>
              <p:cNvPr id="53" name="Freeform 5"/>
              <p:cNvSpPr/>
              <p:nvPr/>
            </p:nvSpPr>
            <p:spPr>
              <a:xfrm>
                <a:off x="13716000" y="1770480"/>
                <a:ext cx="1331280" cy="1667520"/>
              </a:xfrm>
              <a:custGeom>
                <a:avLst/>
                <a:gdLst>
                  <a:gd name="textAreaLeft" fmla="*/ 0 w 1331280"/>
                  <a:gd name="textAreaRight" fmla="*/ 1333440 w 1331280"/>
                  <a:gd name="textAreaTop" fmla="*/ 0 h 1667520"/>
                  <a:gd name="textAreaBottom" fmla="*/ 1669680 h 1667520"/>
                </a:gdLst>
                <a:ahLst/>
                <a:cxnLst/>
                <a:rect l="textAreaLeft" t="textAreaTop" r="textAreaRight" b="textAreaBottom"/>
                <a:pathLst>
                  <a:path w="351210" h="439750">
                    <a:moveTo>
                      <a:pt x="0" y="0"/>
                    </a:moveTo>
                    <a:lnTo>
                      <a:pt x="351210" y="0"/>
                    </a:lnTo>
                    <a:lnTo>
                      <a:pt x="351210" y="439750"/>
                    </a:lnTo>
                    <a:lnTo>
                      <a:pt x="0" y="43975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54" name="TextBox 6"/>
              <p:cNvSpPr/>
              <p:nvPr/>
            </p:nvSpPr>
            <p:spPr>
              <a:xfrm>
                <a:off x="13716000" y="1589760"/>
                <a:ext cx="1331280" cy="18482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sp>
        <p:nvSpPr>
          <p:cNvPr id="55" name="TextBox 7"/>
          <p:cNvSpPr/>
          <p:nvPr/>
        </p:nvSpPr>
        <p:spPr>
          <a:xfrm>
            <a:off x="4486320" y="593640"/>
            <a:ext cx="9313200" cy="548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800"/>
              </a:lnSpc>
            </a:pPr>
            <a:r>
              <a:rPr lang="en-US" sz="9000" b="1" strike="noStrike" spc="-1">
                <a:solidFill>
                  <a:srgbClr val="FFFFFF"/>
                </a:solidFill>
                <a:latin typeface="Century Gothic Paneuropean Heavy"/>
                <a:ea typeface="Century Gothic Paneuropean Heavy"/>
              </a:rPr>
              <a:t>From Launch </a:t>
            </a:r>
            <a:endParaRPr lang="en-US" sz="9000" b="0" strike="noStrike" spc="-1">
              <a:solidFill>
                <a:srgbClr val="FFFFFF"/>
              </a:solidFill>
              <a:latin typeface="Arial"/>
            </a:endParaRPr>
          </a:p>
          <a:p>
            <a:pPr algn="ctr" defTabSz="914400">
              <a:lnSpc>
                <a:spcPts val="10800"/>
              </a:lnSpc>
            </a:pPr>
            <a:r>
              <a:rPr lang="en-US" sz="9000" b="1" strike="noStrike" spc="-1">
                <a:solidFill>
                  <a:srgbClr val="FFFFFF"/>
                </a:solidFill>
                <a:latin typeface="Century Gothic Paneuropean Heavy"/>
                <a:ea typeface="Century Gothic Paneuropean Heavy"/>
              </a:rPr>
              <a:t>to Litter:</a:t>
            </a:r>
            <a:endParaRPr lang="en-US" sz="9000" b="0" strike="noStrike" spc="-1">
              <a:solidFill>
                <a:srgbClr val="FFFFFF"/>
              </a:solidFill>
              <a:latin typeface="Arial"/>
            </a:endParaRPr>
          </a:p>
          <a:p>
            <a:pPr algn="ctr" defTabSz="914400">
              <a:lnSpc>
                <a:spcPts val="10800"/>
              </a:lnSpc>
            </a:pPr>
            <a:r>
              <a:rPr lang="en-US" sz="9000" b="1" strike="noStrike" spc="-1">
                <a:solidFill>
                  <a:srgbClr val="FFBD00"/>
                </a:solidFill>
                <a:latin typeface="Century Gothic Paneuropean Heavy"/>
                <a:ea typeface="Century Gothic Paneuropean Heavy"/>
              </a:rPr>
              <a:t>Orbital Overload </a:t>
            </a:r>
            <a:endParaRPr lang="en-US" sz="9000" b="0" strike="noStrike" spc="-1">
              <a:solidFill>
                <a:srgbClr val="FFFFFF"/>
              </a:solidFill>
              <a:latin typeface="Arial"/>
            </a:endParaRPr>
          </a:p>
        </p:txBody>
      </p:sp>
      <p:sp>
        <p:nvSpPr>
          <p:cNvPr id="56" name="Freeform 8"/>
          <p:cNvSpPr/>
          <p:nvPr/>
        </p:nvSpPr>
        <p:spPr>
          <a:xfrm>
            <a:off x="8751960" y="4398840"/>
            <a:ext cx="10916280" cy="4610880"/>
          </a:xfrm>
          <a:custGeom>
            <a:avLst/>
            <a:gdLst>
              <a:gd name="textAreaLeft" fmla="*/ 0 w 10916280"/>
              <a:gd name="textAreaRight" fmla="*/ 10918440 w 10916280"/>
              <a:gd name="textAreaTop" fmla="*/ 0 h 4610880"/>
              <a:gd name="textAreaBottom" fmla="*/ 4613040 h 4610880"/>
            </a:gdLst>
            <a:ahLst/>
            <a:cxnLst/>
            <a:rect l="textAreaLeft" t="textAreaTop" r="textAreaRight" b="textAreaBottom"/>
            <a:pathLst>
              <a:path w="10918450" h="4613045">
                <a:moveTo>
                  <a:pt x="0" y="0"/>
                </a:moveTo>
                <a:lnTo>
                  <a:pt x="10918450" y="0"/>
                </a:lnTo>
                <a:lnTo>
                  <a:pt x="10918450" y="4613045"/>
                </a:lnTo>
                <a:lnTo>
                  <a:pt x="0" y="4613045"/>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57" name="TextBox 9"/>
          <p:cNvSpPr/>
          <p:nvPr/>
        </p:nvSpPr>
        <p:spPr>
          <a:xfrm>
            <a:off x="15163920" y="9487080"/>
            <a:ext cx="3121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1" strike="noStrike" spc="-1">
                <a:solidFill>
                  <a:srgbClr val="9AD3F3"/>
                </a:solidFill>
                <a:latin typeface="Century Gothic Paneuropean Heavy"/>
              </a:rPr>
              <a:t>Tom Rowan, ST20285213</a:t>
            </a:r>
            <a:endParaRPr lang="en-US" sz="1800" b="0" strike="noStrike" spc="-1">
              <a:solidFill>
                <a:srgbClr val="FFFFFF"/>
              </a:solidFill>
              <a:latin typeface="Arial"/>
            </a:endParaRPr>
          </a:p>
          <a:p>
            <a:pPr defTabSz="914400">
              <a:lnSpc>
                <a:spcPct val="100000"/>
              </a:lnSpc>
            </a:pPr>
            <a:r>
              <a:rPr lang="en-US" sz="1800" b="1" strike="noStrike" spc="-1">
                <a:solidFill>
                  <a:srgbClr val="9AD3F3"/>
                </a:solidFill>
                <a:latin typeface="Century Gothic Paneuropean Heavy"/>
              </a:rPr>
              <a:t>DAT5001_S2_25 PRES1</a:t>
            </a:r>
            <a:endParaRPr lang="en-US" sz="18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58" name="TextBox 2"/>
          <p:cNvSpPr/>
          <p:nvPr/>
        </p:nvSpPr>
        <p:spPr>
          <a:xfrm>
            <a:off x="890280" y="1028880"/>
            <a:ext cx="16505280" cy="1340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559"/>
              </a:lnSpc>
              <a:tabLst>
                <a:tab pos="0" algn="l"/>
              </a:tabLst>
            </a:pPr>
            <a:r>
              <a:rPr lang="en-US" sz="8800" b="1" strike="noStrike" spc="-369">
                <a:solidFill>
                  <a:srgbClr val="FFFFFF"/>
                </a:solidFill>
                <a:latin typeface="Century Gothic Paneuropean Heavy"/>
                <a:ea typeface="Century Gothic Paneuropean Heavy"/>
              </a:rPr>
              <a:t>Table Of </a:t>
            </a:r>
            <a:r>
              <a:rPr lang="en-US" sz="8800" b="1" strike="noStrike" spc="-369">
                <a:solidFill>
                  <a:srgbClr val="FFBD00"/>
                </a:solidFill>
                <a:latin typeface="Century Gothic Paneuropean Heavy"/>
                <a:ea typeface="Century Gothic Paneuropean Heavy"/>
              </a:rPr>
              <a:t>Contents</a:t>
            </a:r>
            <a:endParaRPr lang="en-US" sz="8800" b="0" strike="noStrike" spc="-1">
              <a:solidFill>
                <a:srgbClr val="FFFFFF"/>
              </a:solidFill>
              <a:latin typeface="Arial"/>
            </a:endParaRPr>
          </a:p>
        </p:txBody>
      </p:sp>
      <p:sp>
        <p:nvSpPr>
          <p:cNvPr id="59" name="TextBox 3"/>
          <p:cNvSpPr/>
          <p:nvPr/>
        </p:nvSpPr>
        <p:spPr>
          <a:xfrm>
            <a:off x="7848720" y="7772400"/>
            <a:ext cx="368460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Arial"/>
                <a:ea typeface="Open Sauce"/>
              </a:rPr>
              <a:t>Looking at what’s in orbit. </a:t>
            </a:r>
            <a:endParaRPr lang="en-US" sz="2400" b="0" strike="noStrike" spc="-1">
              <a:solidFill>
                <a:srgbClr val="FFFFFF"/>
              </a:solidFill>
              <a:latin typeface="Arial"/>
            </a:endParaRPr>
          </a:p>
        </p:txBody>
      </p:sp>
      <p:sp>
        <p:nvSpPr>
          <p:cNvPr id="60" name="TextBox 4"/>
          <p:cNvSpPr/>
          <p:nvPr/>
        </p:nvSpPr>
        <p:spPr>
          <a:xfrm>
            <a:off x="7848720" y="6591240"/>
            <a:ext cx="368460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FFBD00"/>
                </a:solidFill>
                <a:latin typeface="Open Sauce Semi-Bold"/>
                <a:ea typeface="Open Sauce Semi-Bold"/>
              </a:rPr>
              <a:t>Exploring </a:t>
            </a:r>
            <a:br>
              <a:rPr sz="3200"/>
            </a:br>
            <a:r>
              <a:rPr lang="en-US" sz="3200" b="1" strike="noStrike" spc="-1">
                <a:solidFill>
                  <a:srgbClr val="FFBD00"/>
                </a:solidFill>
                <a:latin typeface="Open Sauce Semi-Bold"/>
                <a:ea typeface="Open Sauce Semi-Bold"/>
              </a:rPr>
              <a:t>the Data</a:t>
            </a:r>
            <a:endParaRPr lang="en-US" sz="3200" b="0" strike="noStrike" spc="-1">
              <a:solidFill>
                <a:srgbClr val="FFFFFF"/>
              </a:solidFill>
              <a:latin typeface="Arial"/>
            </a:endParaRPr>
          </a:p>
        </p:txBody>
      </p:sp>
      <p:sp>
        <p:nvSpPr>
          <p:cNvPr id="61" name="Freeform 5"/>
          <p:cNvSpPr/>
          <p:nvPr/>
        </p:nvSpPr>
        <p:spPr>
          <a:xfrm>
            <a:off x="8336520" y="3328560"/>
            <a:ext cx="2320200" cy="2709360"/>
          </a:xfrm>
          <a:custGeom>
            <a:avLst/>
            <a:gdLst>
              <a:gd name="textAreaLeft" fmla="*/ 0 w 2320200"/>
              <a:gd name="textAreaRight" fmla="*/ 2322360 w 2320200"/>
              <a:gd name="textAreaTop" fmla="*/ 0 h 2709360"/>
              <a:gd name="textAreaBottom" fmla="*/ 2711520 h 2709360"/>
            </a:gdLst>
            <a:ahLst/>
            <a:cxnLst/>
            <a:rect l="textAreaLeft" t="textAreaTop" r="textAreaRight" b="textAreaBottom"/>
            <a:pathLst>
              <a:path w="2322193" h="2711690">
                <a:moveTo>
                  <a:pt x="0" y="0"/>
                </a:moveTo>
                <a:lnTo>
                  <a:pt x="2322193" y="0"/>
                </a:lnTo>
                <a:lnTo>
                  <a:pt x="2322193" y="2711690"/>
                </a:lnTo>
                <a:lnTo>
                  <a:pt x="0" y="2711690"/>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2" name="TextBox 6"/>
          <p:cNvSpPr/>
          <p:nvPr/>
        </p:nvSpPr>
        <p:spPr>
          <a:xfrm>
            <a:off x="12313800" y="6606000"/>
            <a:ext cx="379224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FFBD00"/>
                </a:solidFill>
                <a:latin typeface="Open Sauce Semi-Bold"/>
                <a:ea typeface="Open Sauce Semi-Bold"/>
              </a:rPr>
              <a:t>Planning for</a:t>
            </a:r>
            <a:endParaRPr lang="en-US" sz="3200" b="0" strike="noStrike" spc="-1">
              <a:solidFill>
                <a:srgbClr val="FFFFFF"/>
              </a:solidFill>
              <a:latin typeface="Arial"/>
            </a:endParaRPr>
          </a:p>
          <a:p>
            <a:pPr algn="ctr" defTabSz="914400">
              <a:lnSpc>
                <a:spcPts val="3841"/>
              </a:lnSpc>
              <a:tabLst>
                <a:tab pos="0" algn="l"/>
              </a:tabLst>
            </a:pPr>
            <a:r>
              <a:rPr lang="en-US" sz="3200" b="1" strike="noStrike" spc="-1">
                <a:solidFill>
                  <a:srgbClr val="FFBD00"/>
                </a:solidFill>
                <a:latin typeface="Open Sauce Semi-Bold"/>
                <a:ea typeface="Open Sauce Semi-Bold"/>
              </a:rPr>
              <a:t>The Future</a:t>
            </a:r>
            <a:endParaRPr lang="en-US" sz="3200" b="0" strike="noStrike" spc="-1">
              <a:solidFill>
                <a:srgbClr val="FFFFFF"/>
              </a:solidFill>
              <a:latin typeface="Arial"/>
            </a:endParaRPr>
          </a:p>
        </p:txBody>
      </p:sp>
      <p:sp>
        <p:nvSpPr>
          <p:cNvPr id="63" name="TextBox 7"/>
          <p:cNvSpPr/>
          <p:nvPr/>
        </p:nvSpPr>
        <p:spPr>
          <a:xfrm>
            <a:off x="12496680" y="7772400"/>
            <a:ext cx="3304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How can we avoid a disaster?</a:t>
            </a:r>
            <a:endParaRPr lang="en-US" sz="2400" b="0" strike="noStrike" spc="-1">
              <a:solidFill>
                <a:srgbClr val="FFFFFF"/>
              </a:solidFill>
              <a:latin typeface="Arial"/>
            </a:endParaRPr>
          </a:p>
        </p:txBody>
      </p:sp>
      <p:sp>
        <p:nvSpPr>
          <p:cNvPr id="64" name="Freeform 8"/>
          <p:cNvSpPr/>
          <p:nvPr/>
        </p:nvSpPr>
        <p:spPr>
          <a:xfrm>
            <a:off x="12557880" y="3328560"/>
            <a:ext cx="2759760" cy="2709360"/>
          </a:xfrm>
          <a:custGeom>
            <a:avLst/>
            <a:gdLst>
              <a:gd name="textAreaLeft" fmla="*/ 0 w 2759760"/>
              <a:gd name="textAreaRight" fmla="*/ 2761920 w 2759760"/>
              <a:gd name="textAreaTop" fmla="*/ 0 h 2709360"/>
              <a:gd name="textAreaBottom" fmla="*/ 2711520 h 2709360"/>
            </a:gdLst>
            <a:ahLst/>
            <a:cxnLst/>
            <a:rect l="textAreaLeft" t="textAreaTop" r="textAreaRight" b="textAreaBottom"/>
            <a:pathLst>
              <a:path w="2761907" h="2711690">
                <a:moveTo>
                  <a:pt x="0" y="0"/>
                </a:moveTo>
                <a:lnTo>
                  <a:pt x="2761906" y="0"/>
                </a:lnTo>
                <a:lnTo>
                  <a:pt x="2761906" y="2711690"/>
                </a:lnTo>
                <a:lnTo>
                  <a:pt x="0" y="2711690"/>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5" name="Freeform 10"/>
          <p:cNvSpPr/>
          <p:nvPr/>
        </p:nvSpPr>
        <p:spPr>
          <a:xfrm>
            <a:off x="2902680" y="3444120"/>
            <a:ext cx="2916000" cy="2916000"/>
          </a:xfrm>
          <a:custGeom>
            <a:avLst/>
            <a:gdLst>
              <a:gd name="textAreaLeft" fmla="*/ 0 w 2916000"/>
              <a:gd name="textAreaRight" fmla="*/ 2918160 w 2916000"/>
              <a:gd name="textAreaTop" fmla="*/ 0 h 2916000"/>
              <a:gd name="textAreaBottom" fmla="*/ 2918160 h 291600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6" name="TextBox 11"/>
          <p:cNvSpPr/>
          <p:nvPr/>
        </p:nvSpPr>
        <p:spPr>
          <a:xfrm>
            <a:off x="1988280" y="6629400"/>
            <a:ext cx="486864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FFBD00"/>
                </a:solidFill>
                <a:latin typeface="Open Sauce Semi-Bold"/>
                <a:ea typeface="Open Sauce Semi-Bold"/>
              </a:rPr>
              <a:t>What is the Kessler Syndrome?</a:t>
            </a:r>
            <a:endParaRPr lang="en-US" sz="3200" b="0" strike="noStrike" spc="-1">
              <a:solidFill>
                <a:srgbClr val="FFFFFF"/>
              </a:solidFill>
              <a:latin typeface="Arial"/>
            </a:endParaRPr>
          </a:p>
        </p:txBody>
      </p:sp>
      <p:sp>
        <p:nvSpPr>
          <p:cNvPr id="67" name="TextBox 12"/>
          <p:cNvSpPr/>
          <p:nvPr/>
        </p:nvSpPr>
        <p:spPr>
          <a:xfrm>
            <a:off x="2743200" y="7772400"/>
            <a:ext cx="3304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And its potential impact on civilization.</a:t>
            </a:r>
            <a:endParaRPr lang="en-US" sz="2400" b="0" strike="noStrike" spc="-1">
              <a:solidFill>
                <a:srgbClr val="FFFFFF"/>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68" name="Freeform 10"/>
          <p:cNvSpPr/>
          <p:nvPr/>
        </p:nvSpPr>
        <p:spPr>
          <a:xfrm>
            <a:off x="12801600" y="651528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9" name="Freeform 10"/>
          <p:cNvSpPr/>
          <p:nvPr/>
        </p:nvSpPr>
        <p:spPr>
          <a:xfrm>
            <a:off x="12801600" y="430524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nvGrpSpPr>
          <p:cNvPr id="70" name="Group 53"/>
          <p:cNvGrpSpPr/>
          <p:nvPr/>
        </p:nvGrpSpPr>
        <p:grpSpPr>
          <a:xfrm>
            <a:off x="12649320" y="4610160"/>
            <a:ext cx="1217160" cy="3350520"/>
            <a:chOff x="12649320" y="4610160"/>
            <a:chExt cx="1217160" cy="3350520"/>
          </a:xfrm>
        </p:grpSpPr>
        <p:sp>
          <p:nvSpPr>
            <p:cNvPr id="71" name="Explosion: 8 Points 36"/>
            <p:cNvSpPr/>
            <p:nvPr/>
          </p:nvSpPr>
          <p:spPr>
            <a:xfrm>
              <a:off x="12649320" y="6819840"/>
              <a:ext cx="1217160" cy="114084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72" name="Explosion: 8 Points 34"/>
            <p:cNvSpPr/>
            <p:nvPr/>
          </p:nvSpPr>
          <p:spPr>
            <a:xfrm>
              <a:off x="12649320" y="4610160"/>
              <a:ext cx="1217160" cy="114084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sp>
        <p:nvSpPr>
          <p:cNvPr id="73" name="TextBox 2"/>
          <p:cNvSpPr/>
          <p:nvPr/>
        </p:nvSpPr>
        <p:spPr>
          <a:xfrm>
            <a:off x="887040" y="731520"/>
            <a:ext cx="16505280" cy="1340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559"/>
              </a:lnSpc>
              <a:tabLst>
                <a:tab pos="0" algn="l"/>
              </a:tabLst>
            </a:pPr>
            <a:r>
              <a:rPr lang="en-US" sz="8800" b="1" strike="noStrike" spc="-369">
                <a:solidFill>
                  <a:srgbClr val="FFFFFF"/>
                </a:solidFill>
                <a:latin typeface="Century Gothic Paneuropean Heavy"/>
                <a:ea typeface="Century Gothic Paneuropean Heavy"/>
              </a:rPr>
              <a:t>What is the </a:t>
            </a:r>
            <a:r>
              <a:rPr lang="en-US" sz="8800" b="1" strike="noStrike" spc="-369">
                <a:solidFill>
                  <a:srgbClr val="FFBD00"/>
                </a:solidFill>
                <a:latin typeface="Century Gothic Paneuropean Heavy"/>
                <a:ea typeface="Century Gothic Paneuropean Heavy"/>
              </a:rPr>
              <a:t>Kessler Syndrome?</a:t>
            </a:r>
            <a:endParaRPr lang="en-US" sz="8800" b="0" strike="noStrike" spc="-1">
              <a:solidFill>
                <a:srgbClr val="FFFFFF"/>
              </a:solidFill>
              <a:latin typeface="Arial"/>
            </a:endParaRPr>
          </a:p>
        </p:txBody>
      </p:sp>
      <p:sp>
        <p:nvSpPr>
          <p:cNvPr id="74" name="Freeform 10"/>
          <p:cNvSpPr/>
          <p:nvPr/>
        </p:nvSpPr>
        <p:spPr>
          <a:xfrm>
            <a:off x="10515600" y="529596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75" name="TextBox 7"/>
          <p:cNvSpPr/>
          <p:nvPr/>
        </p:nvSpPr>
        <p:spPr>
          <a:xfrm>
            <a:off x="1143000" y="354348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Collision Cascade</a:t>
            </a:r>
            <a:endParaRPr lang="en-US" sz="3200" b="0" strike="noStrike" spc="-1">
              <a:solidFill>
                <a:srgbClr val="FFFFFF"/>
              </a:solidFill>
              <a:latin typeface="Arial"/>
            </a:endParaRPr>
          </a:p>
        </p:txBody>
      </p:sp>
      <p:sp>
        <p:nvSpPr>
          <p:cNvPr id="76" name="TextBox 11"/>
          <p:cNvSpPr/>
          <p:nvPr/>
        </p:nvSpPr>
        <p:spPr>
          <a:xfrm>
            <a:off x="1143000" y="4305240"/>
            <a:ext cx="586512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A scenario where satellite and/or space debris collisions cause a cascade effect, making low Earth orbit unusable.</a:t>
            </a:r>
            <a:endParaRPr lang="en-US" sz="2400" b="0" strike="noStrike" spc="-1">
              <a:solidFill>
                <a:srgbClr val="FFFFFF"/>
              </a:solidFill>
              <a:latin typeface="Arial"/>
            </a:endParaRPr>
          </a:p>
        </p:txBody>
      </p:sp>
      <p:sp>
        <p:nvSpPr>
          <p:cNvPr id="77" name="TextBox 7"/>
          <p:cNvSpPr/>
          <p:nvPr/>
        </p:nvSpPr>
        <p:spPr>
          <a:xfrm>
            <a:off x="1143000" y="674388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Disaster Scenario</a:t>
            </a:r>
            <a:endParaRPr lang="en-US" sz="3200" b="0" strike="noStrike" spc="-1">
              <a:solidFill>
                <a:srgbClr val="FFFFFF"/>
              </a:solidFill>
              <a:latin typeface="Arial"/>
            </a:endParaRPr>
          </a:p>
        </p:txBody>
      </p:sp>
      <p:sp>
        <p:nvSpPr>
          <p:cNvPr id="78" name="TextBox 11"/>
          <p:cNvSpPr/>
          <p:nvPr/>
        </p:nvSpPr>
        <p:spPr>
          <a:xfrm>
            <a:off x="1143000" y="7505640"/>
            <a:ext cx="609372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First identified in 1978 by Donald J. Kessler and Burton G. Cour-Palais. </a:t>
            </a:r>
            <a:endParaRPr lang="en-US" sz="2400" b="0" strike="noStrike" spc="-1">
              <a:solidFill>
                <a:srgbClr val="FFFFFF"/>
              </a:solidFill>
              <a:latin typeface="Arial"/>
            </a:endParaRPr>
          </a:p>
        </p:txBody>
      </p:sp>
      <p:sp>
        <p:nvSpPr>
          <p:cNvPr id="79" name="Explosion: 8 Points 21"/>
          <p:cNvSpPr/>
          <p:nvPr/>
        </p:nvSpPr>
        <p:spPr>
          <a:xfrm>
            <a:off x="10363320" y="5600880"/>
            <a:ext cx="1217160" cy="114084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0" name="Freeform 10"/>
          <p:cNvSpPr/>
          <p:nvPr/>
        </p:nvSpPr>
        <p:spPr>
          <a:xfrm>
            <a:off x="7924680" y="529596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1" name="Arrow: Right 24"/>
          <p:cNvSpPr/>
          <p:nvPr/>
        </p:nvSpPr>
        <p:spPr>
          <a:xfrm>
            <a:off x="9220320" y="5524560"/>
            <a:ext cx="1064520" cy="68364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2" name="Freeform 10"/>
          <p:cNvSpPr/>
          <p:nvPr/>
        </p:nvSpPr>
        <p:spPr>
          <a:xfrm>
            <a:off x="15468480" y="461016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3" name="Freeform 10"/>
          <p:cNvSpPr/>
          <p:nvPr/>
        </p:nvSpPr>
        <p:spPr>
          <a:xfrm>
            <a:off x="15468480" y="293364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4" name="Freeform 10"/>
          <p:cNvSpPr/>
          <p:nvPr/>
        </p:nvSpPr>
        <p:spPr>
          <a:xfrm>
            <a:off x="15468480" y="803916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5" name="Freeform 10"/>
          <p:cNvSpPr/>
          <p:nvPr/>
        </p:nvSpPr>
        <p:spPr>
          <a:xfrm>
            <a:off x="15468480" y="6362640"/>
            <a:ext cx="1140840" cy="1140840"/>
          </a:xfrm>
          <a:custGeom>
            <a:avLst/>
            <a:gdLst>
              <a:gd name="textAreaLeft" fmla="*/ 0 w 1140840"/>
              <a:gd name="textAreaRight" fmla="*/ 1143000 w 1140840"/>
              <a:gd name="textAreaTop" fmla="*/ 0 h 1140840"/>
              <a:gd name="textAreaBottom" fmla="*/ 1143000 h 114084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nvGrpSpPr>
          <p:cNvPr id="86" name="Group 55"/>
          <p:cNvGrpSpPr/>
          <p:nvPr/>
        </p:nvGrpSpPr>
        <p:grpSpPr>
          <a:xfrm>
            <a:off x="15316200" y="3238560"/>
            <a:ext cx="1217160" cy="6246360"/>
            <a:chOff x="15316200" y="3238560"/>
            <a:chExt cx="1217160" cy="6246360"/>
          </a:xfrm>
        </p:grpSpPr>
        <p:sp>
          <p:nvSpPr>
            <p:cNvPr id="87" name="Explosion: 8 Points 38"/>
            <p:cNvSpPr/>
            <p:nvPr/>
          </p:nvSpPr>
          <p:spPr>
            <a:xfrm>
              <a:off x="15316200" y="4915080"/>
              <a:ext cx="1217160" cy="114084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8" name="Explosion: 8 Points 40"/>
            <p:cNvSpPr/>
            <p:nvPr/>
          </p:nvSpPr>
          <p:spPr>
            <a:xfrm>
              <a:off x="15316200" y="3238560"/>
              <a:ext cx="1217160" cy="114084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9" name="Explosion: 8 Points 42"/>
            <p:cNvSpPr/>
            <p:nvPr/>
          </p:nvSpPr>
          <p:spPr>
            <a:xfrm>
              <a:off x="15316200" y="8344080"/>
              <a:ext cx="1217160" cy="114084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0" name="Explosion: 8 Points 44"/>
            <p:cNvSpPr/>
            <p:nvPr/>
          </p:nvSpPr>
          <p:spPr>
            <a:xfrm>
              <a:off x="15316200" y="6667560"/>
              <a:ext cx="1217160" cy="114084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grpSp>
        <p:nvGrpSpPr>
          <p:cNvPr id="91" name="Group 54"/>
          <p:cNvGrpSpPr/>
          <p:nvPr/>
        </p:nvGrpSpPr>
        <p:grpSpPr>
          <a:xfrm>
            <a:off x="14095440" y="3695400"/>
            <a:ext cx="1034280" cy="4874040"/>
            <a:chOff x="14095440" y="3695400"/>
            <a:chExt cx="1034280" cy="4874040"/>
          </a:xfrm>
        </p:grpSpPr>
        <p:sp>
          <p:nvSpPr>
            <p:cNvPr id="92" name="Arrow: Right 46"/>
            <p:cNvSpPr/>
            <p:nvPr/>
          </p:nvSpPr>
          <p:spPr>
            <a:xfrm rot="20311800">
              <a:off x="14270760" y="3810600"/>
              <a:ext cx="759960" cy="68364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3" name="Arrow: Right 47"/>
            <p:cNvSpPr/>
            <p:nvPr/>
          </p:nvSpPr>
          <p:spPr>
            <a:xfrm rot="1288200" flipV="1">
              <a:off x="14194080" y="7770240"/>
              <a:ext cx="760320" cy="68328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4" name="Arrow: Right 49"/>
            <p:cNvSpPr/>
            <p:nvPr/>
          </p:nvSpPr>
          <p:spPr>
            <a:xfrm flipV="1">
              <a:off x="14249520" y="6894000"/>
              <a:ext cx="759960" cy="68364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5" name="Arrow: Right 50"/>
            <p:cNvSpPr/>
            <p:nvPr/>
          </p:nvSpPr>
          <p:spPr>
            <a:xfrm flipV="1">
              <a:off x="14325480" y="4836600"/>
              <a:ext cx="759960" cy="68364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grpSp>
        <p:nvGrpSpPr>
          <p:cNvPr id="96" name="Group 52"/>
          <p:cNvGrpSpPr/>
          <p:nvPr/>
        </p:nvGrpSpPr>
        <p:grpSpPr>
          <a:xfrm>
            <a:off x="11733480" y="4990680"/>
            <a:ext cx="957960" cy="1978560"/>
            <a:chOff x="11733480" y="4990680"/>
            <a:chExt cx="957960" cy="1978560"/>
          </a:xfrm>
        </p:grpSpPr>
        <p:sp>
          <p:nvSpPr>
            <p:cNvPr id="97" name="Arrow: Right 45"/>
            <p:cNvSpPr/>
            <p:nvPr/>
          </p:nvSpPr>
          <p:spPr>
            <a:xfrm rot="20311800">
              <a:off x="11832480" y="5105880"/>
              <a:ext cx="759960" cy="68364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8" name="Arrow: Right 51"/>
            <p:cNvSpPr/>
            <p:nvPr/>
          </p:nvSpPr>
          <p:spPr>
            <a:xfrm rot="1288200" flipV="1">
              <a:off x="11832120" y="6170040"/>
              <a:ext cx="760320" cy="68328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1" presetClass="entr" fill="hold" nodeType="afterEffect">
                                  <p:stCondLst>
                                    <p:cond delay="3000"/>
                                  </p:stCondLst>
                                  <p:childTnLst>
                                    <p:set>
                                      <p:cBhvr>
                                        <p:cTn id="9" dur="1" fill="hold">
                                          <p:stCondLst>
                                            <p:cond delay="0"/>
                                          </p:stCondLst>
                                        </p:cTn>
                                        <p:tgtEl>
                                          <p:spTgt spid="79"/>
                                        </p:tgtEl>
                                        <p:attrNameLst>
                                          <p:attrName>style.visibility</p:attrName>
                                        </p:attrNameLst>
                                      </p:cBhvr>
                                      <p:to>
                                        <p:strVal val="visible"/>
                                      </p:to>
                                    </p:set>
                                  </p:childTnLst>
                                </p:cTn>
                              </p:par>
                            </p:childTnLst>
                          </p:cTn>
                        </p:par>
                        <p:par>
                          <p:cTn id="10" fill="hold">
                            <p:stCondLst>
                              <p:cond delay="3000"/>
                            </p:stCondLst>
                            <p:childTnLst>
                              <p:par>
                                <p:cTn id="11" presetID="1" presetClass="entr" fill="hold" nodeType="afterEffect">
                                  <p:stCondLst>
                                    <p:cond delay="3000"/>
                                  </p:stCondLst>
                                  <p:childTnLst>
                                    <p:set>
                                      <p:cBhvr>
                                        <p:cTn id="12" dur="1" fill="hold">
                                          <p:stCondLst>
                                            <p:cond delay="0"/>
                                          </p:stCondLst>
                                        </p:cTn>
                                        <p:tgtEl>
                                          <p:spTgt spid="96"/>
                                        </p:tgtEl>
                                        <p:attrNameLst>
                                          <p:attrName>style.visibility</p:attrName>
                                        </p:attrNameLst>
                                      </p:cBhvr>
                                      <p:to>
                                        <p:strVal val="visible"/>
                                      </p:to>
                                    </p:set>
                                  </p:childTnLst>
                                </p:cTn>
                              </p:par>
                            </p:childTnLst>
                          </p:cTn>
                        </p:par>
                        <p:par>
                          <p:cTn id="13" fill="hold">
                            <p:stCondLst>
                              <p:cond delay="6000"/>
                            </p:stCondLst>
                            <p:childTnLst>
                              <p:par>
                                <p:cTn id="14" presetID="1" presetClass="entr" fill="hold" nodeType="afterEffect">
                                  <p:stCondLst>
                                    <p:cond delay="3000"/>
                                  </p:stCondLst>
                                  <p:childTnLst>
                                    <p:set>
                                      <p:cBhvr>
                                        <p:cTn id="15" dur="1" fill="hold">
                                          <p:stCondLst>
                                            <p:cond delay="0"/>
                                          </p:stCondLst>
                                        </p:cTn>
                                        <p:tgtEl>
                                          <p:spTgt spid="70"/>
                                        </p:tgtEl>
                                        <p:attrNameLst>
                                          <p:attrName>style.visibility</p:attrName>
                                        </p:attrNameLst>
                                      </p:cBhvr>
                                      <p:to>
                                        <p:strVal val="visible"/>
                                      </p:to>
                                    </p:set>
                                  </p:childTnLst>
                                </p:cTn>
                              </p:par>
                            </p:childTnLst>
                          </p:cTn>
                        </p:par>
                        <p:par>
                          <p:cTn id="16" fill="hold">
                            <p:stCondLst>
                              <p:cond delay="9000"/>
                            </p:stCondLst>
                            <p:childTnLst>
                              <p:par>
                                <p:cTn id="17" presetID="1" presetClass="entr" fill="hold" nodeType="afterEffect">
                                  <p:stCondLst>
                                    <p:cond delay="3000"/>
                                  </p:stCondLst>
                                  <p:childTnLst>
                                    <p:set>
                                      <p:cBhvr>
                                        <p:cTn id="18" dur="1" fill="hold">
                                          <p:stCondLst>
                                            <p:cond delay="0"/>
                                          </p:stCondLst>
                                        </p:cTn>
                                        <p:tgtEl>
                                          <p:spTgt spid="91"/>
                                        </p:tgtEl>
                                        <p:attrNameLst>
                                          <p:attrName>style.visibility</p:attrName>
                                        </p:attrNameLst>
                                      </p:cBhvr>
                                      <p:to>
                                        <p:strVal val="visible"/>
                                      </p:to>
                                    </p:set>
                                  </p:childTnLst>
                                </p:cTn>
                              </p:par>
                            </p:childTnLst>
                          </p:cTn>
                        </p:par>
                        <p:par>
                          <p:cTn id="19" fill="hold">
                            <p:stCondLst>
                              <p:cond delay="12000"/>
                            </p:stCondLst>
                            <p:childTnLst>
                              <p:par>
                                <p:cTn id="20" presetID="1" presetClass="entr" fill="hold" nodeType="afterEffect">
                                  <p:stCondLst>
                                    <p:cond delay="3000"/>
                                  </p:stCondLst>
                                  <p:childTnLst>
                                    <p:set>
                                      <p:cBhvr>
                                        <p:cTn id="21"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99" name="TextBox 6"/>
          <p:cNvSpPr/>
          <p:nvPr/>
        </p:nvSpPr>
        <p:spPr>
          <a:xfrm>
            <a:off x="887040" y="73152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Satellite </a:t>
            </a:r>
            <a:r>
              <a:rPr lang="en-US" sz="9000" b="1" strike="noStrike" spc="-1">
                <a:solidFill>
                  <a:srgbClr val="FFBD00"/>
                </a:solidFill>
                <a:latin typeface="Century Gothic Paneuropean Heavy"/>
                <a:ea typeface="Century Gothic Paneuropean Heavy"/>
              </a:rPr>
              <a:t>Launch Trends</a:t>
            </a:r>
            <a:endParaRPr lang="en-US" sz="9000" b="0" strike="noStrike" spc="-1">
              <a:solidFill>
                <a:srgbClr val="FFFFFF"/>
              </a:solidFill>
              <a:latin typeface="Arial"/>
            </a:endParaRPr>
          </a:p>
        </p:txBody>
      </p:sp>
      <p:pic>
        <p:nvPicPr>
          <p:cNvPr id="100" name="Picture 99"/>
          <p:cNvPicPr/>
          <p:nvPr/>
        </p:nvPicPr>
        <p:blipFill>
          <a:blip r:embed="rId2"/>
          <a:stretch/>
        </p:blipFill>
        <p:spPr>
          <a:xfrm>
            <a:off x="1265760" y="2057400"/>
            <a:ext cx="15649200" cy="7770960"/>
          </a:xfrm>
          <a:prstGeom prst="rect">
            <a:avLst/>
          </a:prstGeom>
          <a:ln w="0">
            <a:noFill/>
          </a:ln>
        </p:spPr>
      </p:pic>
      <p:sp>
        <p:nvSpPr>
          <p:cNvPr id="101" name="TextBox 5"/>
          <p:cNvSpPr/>
          <p:nvPr/>
        </p:nvSpPr>
        <p:spPr>
          <a:xfrm>
            <a:off x="9944280" y="2514600"/>
            <a:ext cx="58276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spcBef>
                <a:spcPts val="1191"/>
              </a:spcBef>
              <a:spcAft>
                <a:spcPts val="992"/>
              </a:spcAft>
              <a:tabLst>
                <a:tab pos="0" algn="l"/>
              </a:tabLst>
            </a:pPr>
            <a:r>
              <a:rPr lang="en-US" sz="3200" b="1" strike="noStrike" spc="-1">
                <a:solidFill>
                  <a:srgbClr val="9AD3F3"/>
                </a:solidFill>
                <a:latin typeface="Open Sauce Semi-Bold"/>
                <a:ea typeface="Open Sauce Semi-Bold"/>
              </a:rPr>
              <a:t>Objects In Orbit, Cumulative</a:t>
            </a:r>
            <a:endParaRPr lang="en-US" sz="3200" b="0" strike="noStrike" spc="-1">
              <a:solidFill>
                <a:srgbClr val="FFFFFF"/>
              </a:solidFill>
              <a:latin typeface="Arial"/>
            </a:endParaRPr>
          </a:p>
        </p:txBody>
      </p:sp>
      <p:sp>
        <p:nvSpPr>
          <p:cNvPr id="102" name="Rounded Rectangular Callout 101"/>
          <p:cNvSpPr/>
          <p:nvPr/>
        </p:nvSpPr>
        <p:spPr>
          <a:xfrm>
            <a:off x="6629400" y="3886200"/>
            <a:ext cx="4571640" cy="2285640"/>
          </a:xfrm>
          <a:prstGeom prst="wedgeRoundRectCallout">
            <a:avLst>
              <a:gd name="adj1" fmla="val -30324"/>
              <a:gd name="adj2" fmla="val 158333"/>
              <a:gd name="adj3" fmla="val 16667"/>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Arial"/>
              </a:rPr>
              <a:t>Up to date graph needed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pic>
        <p:nvPicPr>
          <p:cNvPr id="103" name="Picture 101"/>
          <p:cNvPicPr/>
          <p:nvPr/>
        </p:nvPicPr>
        <p:blipFill>
          <a:blip r:embed="rId2"/>
          <a:stretch/>
        </p:blipFill>
        <p:spPr>
          <a:xfrm>
            <a:off x="432000" y="2300400"/>
            <a:ext cx="17158680" cy="7540200"/>
          </a:xfrm>
          <a:prstGeom prst="rect">
            <a:avLst/>
          </a:prstGeom>
          <a:ln w="0">
            <a:noFill/>
          </a:ln>
        </p:spPr>
      </p:pic>
      <p:sp>
        <p:nvSpPr>
          <p:cNvPr id="104" name="TextBox 22"/>
          <p:cNvSpPr/>
          <p:nvPr/>
        </p:nvSpPr>
        <p:spPr>
          <a:xfrm>
            <a:off x="887040" y="73152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What’s up </a:t>
            </a:r>
            <a:r>
              <a:rPr lang="en-US" sz="9000" b="1" strike="noStrike" spc="-1">
                <a:solidFill>
                  <a:srgbClr val="FFBD00"/>
                </a:solidFill>
                <a:latin typeface="Century Gothic Paneuropean Heavy"/>
                <a:ea typeface="Century Gothic Paneuropean Heavy"/>
              </a:rPr>
              <a:t>in Orbit?</a:t>
            </a:r>
            <a:endParaRPr lang="en-US" sz="9000" b="0" strike="noStrike" spc="-1">
              <a:solidFill>
                <a:srgbClr val="FFFFFF"/>
              </a:solidFill>
              <a:latin typeface="Arial"/>
            </a:endParaRPr>
          </a:p>
        </p:txBody>
      </p:sp>
      <p:sp>
        <p:nvSpPr>
          <p:cNvPr id="105" name="TextBox 25"/>
          <p:cNvSpPr/>
          <p:nvPr/>
        </p:nvSpPr>
        <p:spPr>
          <a:xfrm>
            <a:off x="13471920" y="1051560"/>
            <a:ext cx="433188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3841"/>
              </a:lnSpc>
              <a:tabLst>
                <a:tab pos="0" algn="l"/>
              </a:tabLst>
            </a:pPr>
            <a:r>
              <a:rPr lang="en-US" sz="3200" b="1" strike="noStrike" spc="-1">
                <a:solidFill>
                  <a:srgbClr val="9AD3F3"/>
                </a:solidFill>
                <a:latin typeface="Open Sauce Semi-Bold"/>
                <a:ea typeface="Open Sauce Semi-Bold"/>
              </a:rPr>
              <a:t>Count of Objects In Low Earth Orbit</a:t>
            </a:r>
            <a:endParaRPr lang="en-US" sz="3200" b="0" strike="noStrike" spc="-1">
              <a:solidFill>
                <a:srgbClr val="FFFFFF"/>
              </a:solidFill>
              <a:latin typeface="Arial"/>
            </a:endParaRPr>
          </a:p>
        </p:txBody>
      </p:sp>
      <p:pic>
        <p:nvPicPr>
          <p:cNvPr id="106" name="Picture 104"/>
          <p:cNvPicPr/>
          <p:nvPr/>
        </p:nvPicPr>
        <p:blipFill>
          <a:blip r:embed="rId3"/>
          <a:stretch/>
        </p:blipFill>
        <p:spPr>
          <a:xfrm>
            <a:off x="12032640" y="3332520"/>
            <a:ext cx="6024960" cy="4666680"/>
          </a:xfrm>
          <a:prstGeom prst="rect">
            <a:avLst/>
          </a:prstGeom>
          <a:ln w="0">
            <a:noFill/>
          </a:ln>
        </p:spPr>
      </p:pic>
      <p:pic>
        <p:nvPicPr>
          <p:cNvPr id="107" name="Picture 105"/>
          <p:cNvPicPr/>
          <p:nvPr/>
        </p:nvPicPr>
        <p:blipFill>
          <a:blip r:embed="rId4"/>
          <a:stretch/>
        </p:blipFill>
        <p:spPr>
          <a:xfrm>
            <a:off x="7086600" y="3441600"/>
            <a:ext cx="4793040" cy="4570200"/>
          </a:xfrm>
          <a:prstGeom prst="rect">
            <a:avLst/>
          </a:prstGeom>
          <a:ln w="0">
            <a:noFill/>
          </a:ln>
        </p:spPr>
      </p:pic>
      <p:sp>
        <p:nvSpPr>
          <p:cNvPr id="108" name="Rounded Rectangular Callout 107"/>
          <p:cNvSpPr/>
          <p:nvPr/>
        </p:nvSpPr>
        <p:spPr>
          <a:xfrm>
            <a:off x="3886200" y="3429000"/>
            <a:ext cx="4571640" cy="2285640"/>
          </a:xfrm>
          <a:prstGeom prst="wedgeRoundRectCallout">
            <a:avLst>
              <a:gd name="adj1" fmla="val -30324"/>
              <a:gd name="adj2" fmla="val 158333"/>
              <a:gd name="adj3" fmla="val 16667"/>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Arial"/>
              </a:rPr>
              <a:t>Up to date graph needed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pic>
        <p:nvPicPr>
          <p:cNvPr id="109" name="Picture 106"/>
          <p:cNvPicPr/>
          <p:nvPr/>
        </p:nvPicPr>
        <p:blipFill>
          <a:blip r:embed="rId2"/>
          <a:stretch/>
        </p:blipFill>
        <p:spPr>
          <a:xfrm>
            <a:off x="349200" y="2570400"/>
            <a:ext cx="10842480" cy="7221600"/>
          </a:xfrm>
          <a:prstGeom prst="rect">
            <a:avLst/>
          </a:prstGeom>
          <a:ln w="0">
            <a:noFill/>
          </a:ln>
        </p:spPr>
      </p:pic>
      <p:sp>
        <p:nvSpPr>
          <p:cNvPr id="110" name="TextBox 32"/>
          <p:cNvSpPr/>
          <p:nvPr/>
        </p:nvSpPr>
        <p:spPr>
          <a:xfrm>
            <a:off x="13269240" y="1058400"/>
            <a:ext cx="433188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3841"/>
              </a:lnSpc>
              <a:tabLst>
                <a:tab pos="0" algn="l"/>
              </a:tabLst>
            </a:pPr>
            <a:r>
              <a:rPr lang="en-US" sz="3200" b="1" strike="noStrike" spc="-1">
                <a:solidFill>
                  <a:srgbClr val="9AD3F3"/>
                </a:solidFill>
                <a:latin typeface="Open Sauce Semi-Bold"/>
                <a:ea typeface="Open Sauce Semi-Bold"/>
              </a:rPr>
              <a:t>Mass of Payloads</a:t>
            </a:r>
            <a:endParaRPr lang="en-US" sz="3200" b="0" strike="noStrike" spc="-1">
              <a:solidFill>
                <a:srgbClr val="FFFFFF"/>
              </a:solidFill>
              <a:latin typeface="Arial"/>
            </a:endParaRPr>
          </a:p>
          <a:p>
            <a:pPr algn="r" defTabSz="914400">
              <a:lnSpc>
                <a:spcPts val="3841"/>
              </a:lnSpc>
              <a:tabLst>
                <a:tab pos="0" algn="l"/>
              </a:tabLst>
            </a:pPr>
            <a:r>
              <a:rPr lang="en-US" sz="3200" b="1" strike="noStrike" spc="-1">
                <a:solidFill>
                  <a:srgbClr val="9AD3F3"/>
                </a:solidFill>
                <a:latin typeface="Open Sauce Semi-Bold"/>
                <a:ea typeface="Open Sauce Semi-Bold"/>
              </a:rPr>
              <a:t>in Low Earth Orbit </a:t>
            </a:r>
            <a:endParaRPr lang="en-US" sz="3200" b="0" strike="noStrike" spc="-1">
              <a:solidFill>
                <a:srgbClr val="FFFFFF"/>
              </a:solidFill>
              <a:latin typeface="Arial"/>
            </a:endParaRPr>
          </a:p>
        </p:txBody>
      </p:sp>
      <p:sp>
        <p:nvSpPr>
          <p:cNvPr id="111" name="TextBox 21"/>
          <p:cNvSpPr/>
          <p:nvPr/>
        </p:nvSpPr>
        <p:spPr>
          <a:xfrm>
            <a:off x="887040" y="75456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Heavy </a:t>
            </a:r>
            <a:r>
              <a:rPr lang="en-US" sz="9000" b="1" strike="noStrike" spc="-1">
                <a:solidFill>
                  <a:srgbClr val="FFBD00"/>
                </a:solidFill>
                <a:latin typeface="Century Gothic Paneuropean Heavy"/>
                <a:ea typeface="Century Gothic Paneuropean Heavy"/>
              </a:rPr>
              <a:t>Metal</a:t>
            </a:r>
            <a:endParaRPr lang="en-US" sz="9000" b="0" strike="noStrike" spc="-1">
              <a:solidFill>
                <a:srgbClr val="FFFFFF"/>
              </a:solidFill>
              <a:latin typeface="Arial"/>
            </a:endParaRPr>
          </a:p>
        </p:txBody>
      </p:sp>
      <p:pic>
        <p:nvPicPr>
          <p:cNvPr id="112" name="Picture 109"/>
          <p:cNvPicPr/>
          <p:nvPr/>
        </p:nvPicPr>
        <p:blipFill>
          <a:blip r:embed="rId3"/>
          <a:stretch/>
        </p:blipFill>
        <p:spPr>
          <a:xfrm>
            <a:off x="11658600" y="2435400"/>
            <a:ext cx="5942520" cy="7393320"/>
          </a:xfrm>
          <a:prstGeom prst="rect">
            <a:avLst/>
          </a:prstGeom>
          <a:ln w="0">
            <a:noFill/>
          </a:ln>
        </p:spPr>
      </p:pic>
      <p:pic>
        <p:nvPicPr>
          <p:cNvPr id="113" name="Picture 110"/>
          <p:cNvPicPr/>
          <p:nvPr/>
        </p:nvPicPr>
        <p:blipFill>
          <a:blip r:embed="rId4"/>
          <a:stretch/>
        </p:blipFill>
        <p:spPr>
          <a:xfrm>
            <a:off x="4114800" y="3797640"/>
            <a:ext cx="6628320" cy="4947840"/>
          </a:xfrm>
          <a:prstGeom prst="rect">
            <a:avLst/>
          </a:prstGeom>
          <a:ln w="0">
            <a:noFill/>
          </a:ln>
        </p:spPr>
      </p:pic>
      <p:pic>
        <p:nvPicPr>
          <p:cNvPr id="114" name="Picture 111"/>
          <p:cNvPicPr/>
          <p:nvPr/>
        </p:nvPicPr>
        <p:blipFill>
          <a:blip r:embed="rId5"/>
          <a:stretch/>
        </p:blipFill>
        <p:spPr>
          <a:xfrm>
            <a:off x="13944600" y="4283640"/>
            <a:ext cx="3885120" cy="3885120"/>
          </a:xfrm>
          <a:prstGeom prst="rect">
            <a:avLst/>
          </a:prstGeom>
          <a:ln w="0">
            <a:noFill/>
          </a:ln>
        </p:spPr>
      </p:pic>
      <p:sp>
        <p:nvSpPr>
          <p:cNvPr id="115" name="Rounded Rectangular Callout 114"/>
          <p:cNvSpPr/>
          <p:nvPr/>
        </p:nvSpPr>
        <p:spPr>
          <a:xfrm>
            <a:off x="5943960" y="5486400"/>
            <a:ext cx="4571640" cy="2285640"/>
          </a:xfrm>
          <a:prstGeom prst="wedgeRoundRectCallout">
            <a:avLst>
              <a:gd name="adj1" fmla="val -30324"/>
              <a:gd name="adj2" fmla="val 158333"/>
              <a:gd name="adj3" fmla="val 16667"/>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Arial"/>
              </a:rPr>
              <a:t>Up to date graph needed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16" name="TextBox 23"/>
          <p:cNvSpPr/>
          <p:nvPr/>
        </p:nvSpPr>
        <p:spPr>
          <a:xfrm>
            <a:off x="887040" y="73152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Where are </a:t>
            </a:r>
            <a:r>
              <a:rPr lang="en-US" sz="9000" b="1" strike="noStrike" spc="-1">
                <a:solidFill>
                  <a:srgbClr val="FFBD00"/>
                </a:solidFill>
                <a:latin typeface="Century Gothic Paneuropean Heavy"/>
                <a:ea typeface="Century Gothic Paneuropean Heavy"/>
              </a:rPr>
              <a:t>they all?</a:t>
            </a:r>
            <a:endParaRPr lang="en-US" sz="9000" b="0" strike="noStrike" spc="-1">
              <a:solidFill>
                <a:srgbClr val="FFFFFF"/>
              </a:solidFill>
              <a:latin typeface="Arial"/>
            </a:endParaRPr>
          </a:p>
        </p:txBody>
      </p:sp>
      <p:sp>
        <p:nvSpPr>
          <p:cNvPr id="117" name="TextBox 26"/>
          <p:cNvSpPr/>
          <p:nvPr/>
        </p:nvSpPr>
        <p:spPr>
          <a:xfrm>
            <a:off x="14401800" y="2712240"/>
            <a:ext cx="13708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endParaRPr lang="en-US" sz="1800" b="0" strike="noStrike" spc="-1">
              <a:solidFill>
                <a:srgbClr val="FFFFFF"/>
              </a:solidFill>
              <a:latin typeface="Arial"/>
            </a:endParaRPr>
          </a:p>
        </p:txBody>
      </p:sp>
      <p:pic>
        <p:nvPicPr>
          <p:cNvPr id="118" name="Picture 117"/>
          <p:cNvPicPr/>
          <p:nvPr/>
        </p:nvPicPr>
        <p:blipFill>
          <a:blip r:embed="rId2"/>
          <a:stretch/>
        </p:blipFill>
        <p:spPr>
          <a:xfrm>
            <a:off x="457200" y="3429000"/>
            <a:ext cx="17442360" cy="6171480"/>
          </a:xfrm>
          <a:prstGeom prst="rect">
            <a:avLst/>
          </a:prstGeom>
          <a:ln w="0">
            <a:noFill/>
          </a:ln>
        </p:spPr>
      </p:pic>
      <p:pic>
        <p:nvPicPr>
          <p:cNvPr id="119" name="Picture 118"/>
          <p:cNvPicPr/>
          <p:nvPr/>
        </p:nvPicPr>
        <p:blipFill>
          <a:blip r:embed="rId3"/>
          <a:stretch/>
        </p:blipFill>
        <p:spPr>
          <a:xfrm>
            <a:off x="13258800" y="447120"/>
            <a:ext cx="4799880" cy="4485240"/>
          </a:xfrm>
          <a:prstGeom prst="rect">
            <a:avLst/>
          </a:prstGeom>
          <a:ln w="0">
            <a:noFill/>
          </a:ln>
        </p:spPr>
      </p:pic>
      <p:sp>
        <p:nvSpPr>
          <p:cNvPr id="120" name="TextBox 28"/>
          <p:cNvSpPr/>
          <p:nvPr/>
        </p:nvSpPr>
        <p:spPr>
          <a:xfrm>
            <a:off x="685800" y="2940840"/>
            <a:ext cx="91432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Orbital Paths of Payloads currently in Orbit</a:t>
            </a:r>
            <a:endParaRPr lang="en-US" sz="3200" b="0" strike="noStrike" spc="-1">
              <a:solidFill>
                <a:srgbClr val="FFFFFF"/>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21" name="TextBox 24"/>
          <p:cNvSpPr/>
          <p:nvPr/>
        </p:nvSpPr>
        <p:spPr>
          <a:xfrm>
            <a:off x="887040" y="73152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Crowded </a:t>
            </a:r>
            <a:r>
              <a:rPr lang="en-US" sz="9000" b="1" strike="noStrike" spc="-1">
                <a:solidFill>
                  <a:srgbClr val="FFBD00"/>
                </a:solidFill>
                <a:latin typeface="Century Gothic Paneuropean Heavy"/>
                <a:ea typeface="Century Gothic Paneuropean Heavy"/>
              </a:rPr>
              <a:t>LEO</a:t>
            </a:r>
            <a:endParaRPr lang="en-US" sz="9000" b="0" strike="noStrike" spc="-1">
              <a:solidFill>
                <a:srgbClr val="FFFFFF"/>
              </a:solidFill>
              <a:latin typeface="Arial"/>
            </a:endParaRPr>
          </a:p>
        </p:txBody>
      </p:sp>
      <p:sp>
        <p:nvSpPr>
          <p:cNvPr id="122" name="TextBox 27"/>
          <p:cNvSpPr/>
          <p:nvPr/>
        </p:nvSpPr>
        <p:spPr>
          <a:xfrm>
            <a:off x="14401800" y="2712240"/>
            <a:ext cx="13708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endParaRPr lang="en-US" sz="1800" b="0" strike="noStrike" spc="-1">
              <a:solidFill>
                <a:srgbClr val="FFFFFF"/>
              </a:solidFill>
              <a:latin typeface="Arial"/>
            </a:endParaRPr>
          </a:p>
        </p:txBody>
      </p:sp>
      <p:pic>
        <p:nvPicPr>
          <p:cNvPr id="123" name="Picture 122"/>
          <p:cNvPicPr/>
          <p:nvPr/>
        </p:nvPicPr>
        <p:blipFill>
          <a:blip r:embed="rId2"/>
          <a:stretch/>
        </p:blipFill>
        <p:spPr>
          <a:xfrm>
            <a:off x="6041520" y="2514600"/>
            <a:ext cx="10416960" cy="7301880"/>
          </a:xfrm>
          <a:prstGeom prst="rect">
            <a:avLst/>
          </a:prstGeom>
          <a:ln w="0">
            <a:noFill/>
          </a:ln>
        </p:spPr>
      </p:pic>
      <p:sp>
        <p:nvSpPr>
          <p:cNvPr id="124" name="TextBox 29"/>
          <p:cNvSpPr/>
          <p:nvPr/>
        </p:nvSpPr>
        <p:spPr>
          <a:xfrm>
            <a:off x="997920" y="365760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Deep Space</a:t>
            </a:r>
            <a:endParaRPr lang="en-US" sz="3200" b="0" strike="noStrike" spc="-1">
              <a:solidFill>
                <a:srgbClr val="FFFFFF"/>
              </a:solidFill>
              <a:latin typeface="Arial"/>
            </a:endParaRPr>
          </a:p>
        </p:txBody>
      </p:sp>
      <p:sp>
        <p:nvSpPr>
          <p:cNvPr id="125" name="TextBox 30"/>
          <p:cNvSpPr/>
          <p:nvPr/>
        </p:nvSpPr>
        <p:spPr>
          <a:xfrm>
            <a:off x="997920" y="4339080"/>
            <a:ext cx="386856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In the 1960’s, many more payloads were launched into deep space.</a:t>
            </a:r>
            <a:endParaRPr lang="en-US" sz="2400" b="0" strike="noStrike" spc="-1">
              <a:solidFill>
                <a:srgbClr val="FFFFFF"/>
              </a:solidFill>
              <a:latin typeface="Arial"/>
            </a:endParaRPr>
          </a:p>
        </p:txBody>
      </p:sp>
      <p:sp>
        <p:nvSpPr>
          <p:cNvPr id="126" name="TextBox 33"/>
          <p:cNvSpPr/>
          <p:nvPr/>
        </p:nvSpPr>
        <p:spPr>
          <a:xfrm>
            <a:off x="997920" y="617220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Communications</a:t>
            </a:r>
            <a:endParaRPr lang="en-US" sz="3200" b="0" strike="noStrike" spc="-1">
              <a:solidFill>
                <a:srgbClr val="FFFFFF"/>
              </a:solidFill>
              <a:latin typeface="Arial"/>
            </a:endParaRPr>
          </a:p>
        </p:txBody>
      </p:sp>
      <p:sp>
        <p:nvSpPr>
          <p:cNvPr id="127" name="TextBox 34"/>
          <p:cNvSpPr/>
          <p:nvPr/>
        </p:nvSpPr>
        <p:spPr>
          <a:xfrm>
            <a:off x="997920" y="6853680"/>
            <a:ext cx="386856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Most modern satellites are for communications, requiring Low Earth Orbit.</a:t>
            </a:r>
            <a:endParaRPr lang="en-US" sz="2400" b="0" strike="noStrike" spc="-1">
              <a:solidFill>
                <a:srgbClr val="FFFFFF"/>
              </a:solidFill>
              <a:latin typeface="Arial"/>
            </a:endParaRPr>
          </a:p>
        </p:txBody>
      </p:sp>
      <p:sp>
        <p:nvSpPr>
          <p:cNvPr id="128" name="Rounded Rectangular Callout 127"/>
          <p:cNvSpPr/>
          <p:nvPr/>
        </p:nvSpPr>
        <p:spPr>
          <a:xfrm>
            <a:off x="887040" y="2466900"/>
            <a:ext cx="4571640" cy="2285640"/>
          </a:xfrm>
          <a:prstGeom prst="wedgeRoundRectCallout">
            <a:avLst>
              <a:gd name="adj1" fmla="val -30324"/>
              <a:gd name="adj2" fmla="val 158333"/>
              <a:gd name="adj3" fmla="val 16667"/>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Arial"/>
              </a:rPr>
              <a:t>Up to date graph needed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29" name="TextBox 31"/>
          <p:cNvSpPr/>
          <p:nvPr/>
        </p:nvSpPr>
        <p:spPr>
          <a:xfrm>
            <a:off x="887040" y="73152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Operators and </a:t>
            </a:r>
            <a:r>
              <a:rPr lang="en-US" sz="9000" b="1" strike="noStrike" spc="-1">
                <a:solidFill>
                  <a:srgbClr val="FFBD00"/>
                </a:solidFill>
                <a:latin typeface="Century Gothic Paneuropean Heavy"/>
                <a:ea typeface="Century Gothic Paneuropean Heavy"/>
              </a:rPr>
              <a:t>Origins</a:t>
            </a:r>
            <a:endParaRPr lang="en-US" sz="9000" b="0" strike="noStrike" spc="-1">
              <a:solidFill>
                <a:srgbClr val="FFFFFF"/>
              </a:solidFill>
              <a:latin typeface="Arial"/>
            </a:endParaRPr>
          </a:p>
        </p:txBody>
      </p:sp>
      <p:pic>
        <p:nvPicPr>
          <p:cNvPr id="130" name="Picture 129"/>
          <p:cNvPicPr/>
          <p:nvPr/>
        </p:nvPicPr>
        <p:blipFill>
          <a:blip r:embed="rId2"/>
          <a:stretch/>
        </p:blipFill>
        <p:spPr>
          <a:xfrm>
            <a:off x="5257800" y="2330280"/>
            <a:ext cx="12581280" cy="7499160"/>
          </a:xfrm>
          <a:prstGeom prst="rect">
            <a:avLst/>
          </a:prstGeom>
          <a:ln w="0">
            <a:noFill/>
          </a:ln>
        </p:spPr>
      </p:pic>
      <p:sp>
        <p:nvSpPr>
          <p:cNvPr id="131" name="TextBox 35"/>
          <p:cNvSpPr/>
          <p:nvPr/>
        </p:nvSpPr>
        <p:spPr>
          <a:xfrm>
            <a:off x="914400" y="261108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Starlink</a:t>
            </a:r>
            <a:endParaRPr lang="en-US" sz="3200" b="0" strike="noStrike" spc="-1">
              <a:solidFill>
                <a:srgbClr val="FFFFFF"/>
              </a:solidFill>
              <a:latin typeface="Arial"/>
            </a:endParaRPr>
          </a:p>
        </p:txBody>
      </p:sp>
      <p:sp>
        <p:nvSpPr>
          <p:cNvPr id="132" name="TextBox 36"/>
          <p:cNvSpPr/>
          <p:nvPr/>
        </p:nvSpPr>
        <p:spPr>
          <a:xfrm>
            <a:off x="914400" y="3292560"/>
            <a:ext cx="386856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First launch: </a:t>
            </a:r>
            <a:r>
              <a:rPr lang="en-US" sz="2400" b="1" strike="noStrike" spc="-1">
                <a:solidFill>
                  <a:srgbClr val="FFFFFF"/>
                </a:solidFill>
                <a:latin typeface="Open Sauce"/>
                <a:ea typeface="Open Sauce"/>
              </a:rPr>
              <a:t>2018</a:t>
            </a:r>
            <a:endParaRPr lang="en-US" sz="2400" b="0" strike="noStrike" spc="-1">
              <a:solidFill>
                <a:srgbClr val="FFFFFF"/>
              </a:solidFill>
              <a:latin typeface="Arial"/>
            </a:endParaRPr>
          </a:p>
          <a:p>
            <a:pPr defTabSz="914400">
              <a:lnSpc>
                <a:spcPts val="3359"/>
              </a:lnSpc>
              <a:tabLst>
                <a:tab pos="0" algn="l"/>
              </a:tabLst>
            </a:pPr>
            <a:r>
              <a:rPr lang="en-US" sz="2400" b="0" strike="noStrike" spc="-1">
                <a:solidFill>
                  <a:srgbClr val="FFFFFF"/>
                </a:solidFill>
                <a:latin typeface="Open Sauce"/>
                <a:ea typeface="Open Sauce"/>
              </a:rPr>
              <a:t>Total launches: </a:t>
            </a:r>
            <a:r>
              <a:rPr lang="en-US" sz="2400" b="1" strike="noStrike" spc="-1">
                <a:solidFill>
                  <a:srgbClr val="FFFFFF"/>
                </a:solidFill>
                <a:latin typeface="Open Sauce"/>
                <a:ea typeface="Open Sauce"/>
              </a:rPr>
              <a:t>10,413</a:t>
            </a:r>
            <a:endParaRPr lang="en-US" sz="2400" b="0" strike="noStrike" spc="-1">
              <a:solidFill>
                <a:srgbClr val="FFFFFF"/>
              </a:solidFill>
              <a:latin typeface="Arial"/>
            </a:endParaRPr>
          </a:p>
          <a:p>
            <a:pPr defTabSz="914400">
              <a:lnSpc>
                <a:spcPts val="3359"/>
              </a:lnSpc>
              <a:tabLst>
                <a:tab pos="0" algn="l"/>
              </a:tabLst>
            </a:pPr>
            <a:r>
              <a:rPr lang="en-US" sz="2400" b="0" strike="noStrike" spc="-1">
                <a:solidFill>
                  <a:srgbClr val="FFFFFF"/>
                </a:solidFill>
                <a:latin typeface="Open Sauce"/>
                <a:ea typeface="Open Sauce"/>
              </a:rPr>
              <a:t>Purpose: </a:t>
            </a:r>
            <a:r>
              <a:rPr lang="en-US" sz="2400" b="1" strike="noStrike" spc="-1">
                <a:solidFill>
                  <a:srgbClr val="FFFFFF"/>
                </a:solidFill>
                <a:latin typeface="Open Sauce"/>
                <a:ea typeface="Open Sauce"/>
              </a:rPr>
              <a:t>Comms</a:t>
            </a:r>
            <a:endParaRPr lang="en-US" sz="2400" b="0" strike="noStrike" spc="-1">
              <a:solidFill>
                <a:srgbClr val="FFFFFF"/>
              </a:solidFill>
              <a:latin typeface="Arial"/>
            </a:endParaRPr>
          </a:p>
        </p:txBody>
      </p:sp>
      <p:sp>
        <p:nvSpPr>
          <p:cNvPr id="133" name="TextBox 37"/>
          <p:cNvSpPr/>
          <p:nvPr/>
        </p:nvSpPr>
        <p:spPr>
          <a:xfrm>
            <a:off x="914400" y="512568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OneWeb</a:t>
            </a:r>
            <a:endParaRPr lang="en-US" sz="3200" b="0" strike="noStrike" spc="-1">
              <a:solidFill>
                <a:srgbClr val="FFFFFF"/>
              </a:solidFill>
              <a:latin typeface="Arial"/>
            </a:endParaRPr>
          </a:p>
        </p:txBody>
      </p:sp>
      <p:sp>
        <p:nvSpPr>
          <p:cNvPr id="134" name="TextBox 38"/>
          <p:cNvSpPr/>
          <p:nvPr/>
        </p:nvSpPr>
        <p:spPr>
          <a:xfrm>
            <a:off x="914400" y="5807160"/>
            <a:ext cx="386856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First launch: </a:t>
            </a:r>
            <a:r>
              <a:rPr lang="en-US" sz="2400" b="1" strike="noStrike" spc="-1">
                <a:solidFill>
                  <a:srgbClr val="FFFFFF"/>
                </a:solidFill>
                <a:latin typeface="Open Sauce"/>
                <a:ea typeface="Open Sauce"/>
              </a:rPr>
              <a:t>2019</a:t>
            </a:r>
            <a:endParaRPr lang="en-US" sz="2400" b="0" strike="noStrike" spc="-1">
              <a:solidFill>
                <a:srgbClr val="FFFFFF"/>
              </a:solidFill>
              <a:latin typeface="Arial"/>
            </a:endParaRPr>
          </a:p>
          <a:p>
            <a:pPr defTabSz="914400">
              <a:lnSpc>
                <a:spcPts val="3359"/>
              </a:lnSpc>
              <a:tabLst>
                <a:tab pos="0" algn="l"/>
              </a:tabLst>
            </a:pPr>
            <a:r>
              <a:rPr lang="en-US" sz="2400" b="0" strike="noStrike" spc="-1">
                <a:solidFill>
                  <a:srgbClr val="FFFFFF"/>
                </a:solidFill>
                <a:latin typeface="Open Sauce"/>
                <a:ea typeface="Open Sauce"/>
              </a:rPr>
              <a:t>Total launches: </a:t>
            </a:r>
            <a:r>
              <a:rPr lang="en-US" sz="2400" b="1" strike="noStrike" spc="-1">
                <a:solidFill>
                  <a:srgbClr val="FFFFFF"/>
                </a:solidFill>
                <a:latin typeface="Open Sauce"/>
                <a:ea typeface="Open Sauce"/>
              </a:rPr>
              <a:t>656</a:t>
            </a:r>
            <a:endParaRPr lang="en-US" sz="2400" b="0" strike="noStrike" spc="-1">
              <a:solidFill>
                <a:srgbClr val="FFFFFF"/>
              </a:solidFill>
              <a:latin typeface="Arial"/>
            </a:endParaRPr>
          </a:p>
          <a:p>
            <a:pPr defTabSz="914400">
              <a:lnSpc>
                <a:spcPts val="3359"/>
              </a:lnSpc>
              <a:tabLst>
                <a:tab pos="0" algn="l"/>
              </a:tabLst>
            </a:pPr>
            <a:r>
              <a:rPr lang="en-US" sz="2400" b="0" strike="noStrike" spc="-1">
                <a:solidFill>
                  <a:srgbClr val="FFFFFF"/>
                </a:solidFill>
                <a:latin typeface="Open Sauce"/>
                <a:ea typeface="Open Sauce"/>
              </a:rPr>
              <a:t>Purpose: </a:t>
            </a:r>
            <a:r>
              <a:rPr lang="en-US" sz="2400" b="1" strike="noStrike" spc="-1">
                <a:solidFill>
                  <a:srgbClr val="FFFFFF"/>
                </a:solidFill>
                <a:latin typeface="Open Sauce"/>
                <a:ea typeface="Open Sauce"/>
              </a:rPr>
              <a:t>Internet</a:t>
            </a:r>
            <a:endParaRPr lang="en-US" sz="2400" b="0" strike="noStrike" spc="-1">
              <a:solidFill>
                <a:srgbClr val="FFFFFF"/>
              </a:solidFill>
              <a:latin typeface="Arial"/>
            </a:endParaRPr>
          </a:p>
        </p:txBody>
      </p:sp>
      <p:sp>
        <p:nvSpPr>
          <p:cNvPr id="135" name="TextBox 39"/>
          <p:cNvSpPr/>
          <p:nvPr/>
        </p:nvSpPr>
        <p:spPr>
          <a:xfrm>
            <a:off x="914400" y="764028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Flock</a:t>
            </a:r>
            <a:endParaRPr lang="en-US" sz="3200" b="0" strike="noStrike" spc="-1">
              <a:solidFill>
                <a:srgbClr val="FFFFFF"/>
              </a:solidFill>
              <a:latin typeface="Arial"/>
            </a:endParaRPr>
          </a:p>
        </p:txBody>
      </p:sp>
      <p:sp>
        <p:nvSpPr>
          <p:cNvPr id="136" name="TextBox 40"/>
          <p:cNvSpPr/>
          <p:nvPr/>
        </p:nvSpPr>
        <p:spPr>
          <a:xfrm>
            <a:off x="914400" y="8321760"/>
            <a:ext cx="43430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First launch: </a:t>
            </a:r>
            <a:r>
              <a:rPr lang="en-US" sz="2400" b="1" strike="noStrike" spc="-1">
                <a:solidFill>
                  <a:srgbClr val="FFFFFF"/>
                </a:solidFill>
                <a:latin typeface="Open Sauce"/>
                <a:ea typeface="Open Sauce"/>
              </a:rPr>
              <a:t>2015</a:t>
            </a:r>
            <a:endParaRPr lang="en-US" sz="2400" b="0" strike="noStrike" spc="-1">
              <a:solidFill>
                <a:srgbClr val="FFFFFF"/>
              </a:solidFill>
              <a:latin typeface="Arial"/>
            </a:endParaRPr>
          </a:p>
          <a:p>
            <a:pPr defTabSz="914400">
              <a:lnSpc>
                <a:spcPts val="3359"/>
              </a:lnSpc>
              <a:tabLst>
                <a:tab pos="0" algn="l"/>
              </a:tabLst>
            </a:pPr>
            <a:r>
              <a:rPr lang="en-US" sz="2400" b="0" strike="noStrike" spc="-1">
                <a:solidFill>
                  <a:srgbClr val="FFFFFF"/>
                </a:solidFill>
                <a:latin typeface="Open Sauce"/>
                <a:ea typeface="Open Sauce"/>
              </a:rPr>
              <a:t>Total launches: </a:t>
            </a:r>
            <a:r>
              <a:rPr lang="en-US" sz="2400" b="1" strike="noStrike" spc="-1">
                <a:solidFill>
                  <a:srgbClr val="FFFFFF"/>
                </a:solidFill>
                <a:latin typeface="Open Sauce"/>
                <a:ea typeface="Open Sauce"/>
              </a:rPr>
              <a:t>548</a:t>
            </a:r>
            <a:endParaRPr lang="en-US" sz="2400" b="0" strike="noStrike" spc="-1">
              <a:solidFill>
                <a:srgbClr val="FFFFFF"/>
              </a:solidFill>
              <a:latin typeface="Arial"/>
            </a:endParaRPr>
          </a:p>
          <a:p>
            <a:pPr defTabSz="914400">
              <a:lnSpc>
                <a:spcPts val="3359"/>
              </a:lnSpc>
              <a:tabLst>
                <a:tab pos="0" algn="l"/>
              </a:tabLst>
            </a:pPr>
            <a:r>
              <a:rPr lang="en-US" sz="2400" b="0" strike="noStrike" spc="-1">
                <a:solidFill>
                  <a:srgbClr val="FFFFFF"/>
                </a:solidFill>
                <a:latin typeface="Open Sauce"/>
                <a:ea typeface="Open Sauce"/>
              </a:rPr>
              <a:t>Purpose: </a:t>
            </a:r>
            <a:r>
              <a:rPr lang="en-US" sz="2400" b="1" strike="noStrike" spc="-1">
                <a:solidFill>
                  <a:srgbClr val="FFFFFF"/>
                </a:solidFill>
                <a:latin typeface="Open Sauce"/>
                <a:ea typeface="Open Sauce"/>
              </a:rPr>
              <a:t>Earth Observation</a:t>
            </a:r>
            <a:endParaRPr lang="en-US" sz="2400" b="0" strike="noStrike" spc="-1">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37" name="TextBox 6"/>
          <p:cNvSpPr/>
          <p:nvPr/>
        </p:nvSpPr>
        <p:spPr>
          <a:xfrm>
            <a:off x="1028880" y="101916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Lifespan and </a:t>
            </a:r>
            <a:r>
              <a:rPr lang="en-US" sz="9000" b="1" strike="noStrike" spc="-1">
                <a:solidFill>
                  <a:srgbClr val="FFBD00"/>
                </a:solidFill>
                <a:latin typeface="Century Gothic Paneuropean Heavy"/>
                <a:ea typeface="Century Gothic Paneuropean Heavy"/>
              </a:rPr>
              <a:t>Litter</a:t>
            </a:r>
            <a:endParaRPr lang="en-US" sz="9000" b="0" strike="noStrike" spc="-1">
              <a:solidFill>
                <a:srgbClr val="FFFFFF"/>
              </a:solidFill>
              <a:latin typeface="Arial"/>
            </a:endParaRPr>
          </a:p>
        </p:txBody>
      </p:sp>
      <p:sp>
        <p:nvSpPr>
          <p:cNvPr id="138" name="TextBox 8"/>
          <p:cNvSpPr/>
          <p:nvPr/>
        </p:nvSpPr>
        <p:spPr>
          <a:xfrm>
            <a:off x="5283720" y="400536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39" name="TextBox 9"/>
          <p:cNvSpPr/>
          <p:nvPr/>
        </p:nvSpPr>
        <p:spPr>
          <a:xfrm>
            <a:off x="1028880" y="699840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40" name="TextBox 10"/>
          <p:cNvSpPr/>
          <p:nvPr/>
        </p:nvSpPr>
        <p:spPr>
          <a:xfrm>
            <a:off x="5283720" y="699840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41" name="TextBox 11"/>
          <p:cNvSpPr/>
          <p:nvPr/>
        </p:nvSpPr>
        <p:spPr>
          <a:xfrm>
            <a:off x="102888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42" name="TextBox 12"/>
          <p:cNvSpPr/>
          <p:nvPr/>
        </p:nvSpPr>
        <p:spPr>
          <a:xfrm>
            <a:off x="528372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43" name="TextBox 13"/>
          <p:cNvSpPr/>
          <p:nvPr/>
        </p:nvSpPr>
        <p:spPr>
          <a:xfrm>
            <a:off x="102888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44" name="TextBox 14"/>
          <p:cNvSpPr/>
          <p:nvPr/>
        </p:nvSpPr>
        <p:spPr>
          <a:xfrm>
            <a:off x="528372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45" name="TextBox 6"/>
          <p:cNvSpPr/>
          <p:nvPr/>
        </p:nvSpPr>
        <p:spPr>
          <a:xfrm>
            <a:off x="1028880" y="101916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Collision </a:t>
            </a:r>
            <a:r>
              <a:rPr lang="en-US" sz="9000" b="1" strike="noStrike" spc="-1">
                <a:solidFill>
                  <a:srgbClr val="FFBD00"/>
                </a:solidFill>
                <a:latin typeface="Century Gothic Paneuropean Heavy"/>
                <a:ea typeface="Century Gothic Paneuropean Heavy"/>
              </a:rPr>
              <a:t>Risk</a:t>
            </a:r>
            <a:endParaRPr lang="en-US" sz="9000" b="0" strike="noStrike" spc="-1">
              <a:solidFill>
                <a:srgbClr val="FFFFFF"/>
              </a:solidFill>
              <a:latin typeface="Arial"/>
            </a:endParaRPr>
          </a:p>
        </p:txBody>
      </p:sp>
      <p:sp>
        <p:nvSpPr>
          <p:cNvPr id="146" name="TextBox 7"/>
          <p:cNvSpPr/>
          <p:nvPr/>
        </p:nvSpPr>
        <p:spPr>
          <a:xfrm>
            <a:off x="1028880" y="400536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47" name="TextBox 8"/>
          <p:cNvSpPr/>
          <p:nvPr/>
        </p:nvSpPr>
        <p:spPr>
          <a:xfrm>
            <a:off x="5283720" y="400536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48" name="TextBox 9"/>
          <p:cNvSpPr/>
          <p:nvPr/>
        </p:nvSpPr>
        <p:spPr>
          <a:xfrm>
            <a:off x="1028880" y="699840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49" name="TextBox 10"/>
          <p:cNvSpPr/>
          <p:nvPr/>
        </p:nvSpPr>
        <p:spPr>
          <a:xfrm>
            <a:off x="5283720" y="699840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In The News</a:t>
            </a:r>
            <a:endParaRPr lang="en-US" sz="3200" b="0" strike="noStrike" spc="-1">
              <a:solidFill>
                <a:srgbClr val="FFFFFF"/>
              </a:solidFill>
              <a:latin typeface="Arial"/>
            </a:endParaRPr>
          </a:p>
        </p:txBody>
      </p:sp>
      <p:sp>
        <p:nvSpPr>
          <p:cNvPr id="150" name="TextBox 11"/>
          <p:cNvSpPr/>
          <p:nvPr/>
        </p:nvSpPr>
        <p:spPr>
          <a:xfrm>
            <a:off x="1028880" y="4686840"/>
            <a:ext cx="3868560" cy="34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spcBef>
                <a:spcPts val="1191"/>
              </a:spcBef>
              <a:spcAft>
                <a:spcPts val="992"/>
              </a:spcAft>
              <a:tabLst>
                <a:tab pos="0" algn="l"/>
              </a:tabLst>
            </a:pPr>
            <a:r>
              <a:rPr lang="en-US" sz="2400" b="0" strike="noStrike" spc="-1">
                <a:solidFill>
                  <a:srgbClr val="FFFFFF"/>
                </a:solidFill>
                <a:latin typeface="Open Sauce"/>
                <a:ea typeface="Open Sauce"/>
              </a:rPr>
              <a:t>During the first four years after the first Starlink launch, the number of evasive maneuvers kept doubling every six months, reaching 25,299 in the half-year leading up to May 31, 2023</a:t>
            </a:r>
            <a:endParaRPr lang="en-US" sz="2400" b="0" strike="noStrike" spc="-1">
              <a:solidFill>
                <a:srgbClr val="FFFFFF"/>
              </a:solidFill>
              <a:latin typeface="Arial"/>
            </a:endParaRPr>
          </a:p>
        </p:txBody>
      </p:sp>
      <p:sp>
        <p:nvSpPr>
          <p:cNvPr id="151" name="TextBox 12"/>
          <p:cNvSpPr/>
          <p:nvPr/>
        </p:nvSpPr>
        <p:spPr>
          <a:xfrm>
            <a:off x="528372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52" name="TextBox 13"/>
          <p:cNvSpPr/>
          <p:nvPr/>
        </p:nvSpPr>
        <p:spPr>
          <a:xfrm>
            <a:off x="102888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53" name="TextBox 14"/>
          <p:cNvSpPr/>
          <p:nvPr/>
        </p:nvSpPr>
        <p:spPr>
          <a:xfrm>
            <a:off x="528372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54" name="TextBox 6"/>
          <p:cNvSpPr/>
          <p:nvPr/>
        </p:nvSpPr>
        <p:spPr>
          <a:xfrm>
            <a:off x="1028880" y="101916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What is </a:t>
            </a:r>
            <a:r>
              <a:rPr lang="en-US" sz="9000" b="1" strike="noStrike" spc="-1">
                <a:solidFill>
                  <a:srgbClr val="FFBD00"/>
                </a:solidFill>
                <a:latin typeface="Century Gothic Paneuropean Heavy"/>
                <a:ea typeface="Century Gothic Paneuropean Heavy"/>
              </a:rPr>
              <a:t>at Stake?</a:t>
            </a:r>
            <a:endParaRPr lang="en-US" sz="9000" b="0" strike="noStrike" spc="-1">
              <a:solidFill>
                <a:srgbClr val="FFFFFF"/>
              </a:solidFill>
              <a:latin typeface="Arial"/>
            </a:endParaRPr>
          </a:p>
        </p:txBody>
      </p:sp>
      <p:sp>
        <p:nvSpPr>
          <p:cNvPr id="155" name="TextBox 7"/>
          <p:cNvSpPr/>
          <p:nvPr/>
        </p:nvSpPr>
        <p:spPr>
          <a:xfrm>
            <a:off x="1028880" y="400536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56" name="TextBox 8"/>
          <p:cNvSpPr/>
          <p:nvPr/>
        </p:nvSpPr>
        <p:spPr>
          <a:xfrm>
            <a:off x="5283720" y="400536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57" name="TextBox 9"/>
          <p:cNvSpPr/>
          <p:nvPr/>
        </p:nvSpPr>
        <p:spPr>
          <a:xfrm>
            <a:off x="1028880" y="699840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58" name="TextBox 10"/>
          <p:cNvSpPr/>
          <p:nvPr/>
        </p:nvSpPr>
        <p:spPr>
          <a:xfrm>
            <a:off x="5283720" y="699840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59" name="TextBox 11"/>
          <p:cNvSpPr/>
          <p:nvPr/>
        </p:nvSpPr>
        <p:spPr>
          <a:xfrm>
            <a:off x="102888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60" name="TextBox 12"/>
          <p:cNvSpPr/>
          <p:nvPr/>
        </p:nvSpPr>
        <p:spPr>
          <a:xfrm>
            <a:off x="5283720" y="4686840"/>
            <a:ext cx="3868560" cy="3839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FFFFFF"/>
                </a:solidFill>
                <a:latin typeface="Open Sauce"/>
                <a:ea typeface="Open Sauce"/>
              </a:rPr>
              <a:t>Elaborate on what you want to discuss. </a:t>
            </a:r>
            <a:br>
              <a:rPr sz="2400"/>
            </a:br>
            <a:br>
              <a:rPr sz="2400"/>
            </a:br>
            <a:r>
              <a:rPr lang="en-US" sz="2400" b="0" strike="noStrike" spc="-1">
                <a:solidFill>
                  <a:srgbClr val="FFFFFF"/>
                </a:solidFill>
                <a:latin typeface="Open Sauce"/>
                <a:ea typeface="Open Sauce"/>
              </a:rPr>
              <a:t>https://arstechnica.com/space/2025/11/landing-postponed-for-chinese-astronauts-after-suspected-space-debris-strike/</a:t>
            </a:r>
            <a:endParaRPr lang="en-US" sz="2400" b="0" strike="noStrike" spc="-1">
              <a:solidFill>
                <a:srgbClr val="FFFFFF"/>
              </a:solidFill>
              <a:latin typeface="Arial"/>
            </a:endParaRPr>
          </a:p>
        </p:txBody>
      </p:sp>
      <p:sp>
        <p:nvSpPr>
          <p:cNvPr id="161" name="TextBox 13"/>
          <p:cNvSpPr/>
          <p:nvPr/>
        </p:nvSpPr>
        <p:spPr>
          <a:xfrm>
            <a:off x="102888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62" name="TextBox 14"/>
          <p:cNvSpPr/>
          <p:nvPr/>
        </p:nvSpPr>
        <p:spPr>
          <a:xfrm>
            <a:off x="528372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63" name="TextBox 1"/>
          <p:cNvSpPr/>
          <p:nvPr/>
        </p:nvSpPr>
        <p:spPr>
          <a:xfrm>
            <a:off x="10122480" y="2723400"/>
            <a:ext cx="7725240" cy="5850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1" strike="noStrike" spc="-1">
                <a:solidFill>
                  <a:schemeClr val="lt1"/>
                </a:solidFill>
                <a:latin typeface="Calibri"/>
              </a:rPr>
              <a:t>1. Disruption of Communication Networks</a:t>
            </a:r>
            <a:endParaRPr lang="en-US" sz="1800" b="0" strike="noStrike" spc="-1">
              <a:solidFill>
                <a:srgbClr val="FFFFFF"/>
              </a:solidFill>
              <a:latin typeface="Arial"/>
            </a:endParaRPr>
          </a:p>
          <a:p>
            <a:pPr defTabSz="914400">
              <a:lnSpc>
                <a:spcPct val="100000"/>
              </a:lnSpc>
            </a:pPr>
            <a:r>
              <a:rPr lang="en-GB" sz="1800" b="0" strike="noStrike" spc="-1">
                <a:solidFill>
                  <a:schemeClr val="lt1"/>
                </a:solidFill>
                <a:latin typeface="Calibri"/>
              </a:rPr>
              <a:t>Satellites form the backbone of global communication. GPS navigation, internet services, television broadcasting, and emergency response systems all depend on them. A dense debris field could wipe out this critical infrastructure, plunging the world into a technological dark age.</a:t>
            </a:r>
            <a:endParaRPr lang="en-US" sz="1800" b="0" strike="noStrike" spc="-1">
              <a:solidFill>
                <a:srgbClr val="FFFFFF"/>
              </a:solidFill>
              <a:latin typeface="Arial"/>
            </a:endParaRPr>
          </a:p>
          <a:p>
            <a:pPr defTabSz="914400">
              <a:lnSpc>
                <a:spcPct val="100000"/>
              </a:lnSpc>
            </a:pPr>
            <a:r>
              <a:rPr lang="en-GB" sz="1800" b="1" strike="noStrike" spc="-1">
                <a:solidFill>
                  <a:schemeClr val="lt1"/>
                </a:solidFill>
                <a:latin typeface="Calibri"/>
              </a:rPr>
              <a:t>2. Threat to Space Exploration</a:t>
            </a:r>
            <a:endParaRPr lang="en-US" sz="1800" b="0" strike="noStrike" spc="-1">
              <a:solidFill>
                <a:srgbClr val="FFFFFF"/>
              </a:solidFill>
              <a:latin typeface="Arial"/>
            </a:endParaRPr>
          </a:p>
          <a:p>
            <a:pPr defTabSz="914400">
              <a:lnSpc>
                <a:spcPct val="100000"/>
              </a:lnSpc>
            </a:pPr>
            <a:r>
              <a:rPr lang="en-GB" sz="1800" b="0" strike="noStrike" spc="-1">
                <a:solidFill>
                  <a:schemeClr val="lt1"/>
                </a:solidFill>
                <a:latin typeface="Calibri"/>
              </a:rPr>
              <a:t>A debris-filled orbit would make it nearly impossible to launch spacecraft. This could halt scientific missions, including plans to explore Mars and beyond. Even vital operations like resupplying the International Space Station (ISS) could be jeopardized.</a:t>
            </a:r>
            <a:endParaRPr lang="en-US" sz="1800" b="0" strike="noStrike" spc="-1">
              <a:solidFill>
                <a:srgbClr val="FFFFFF"/>
              </a:solidFill>
              <a:latin typeface="Arial"/>
            </a:endParaRPr>
          </a:p>
          <a:p>
            <a:pPr defTabSz="914400">
              <a:lnSpc>
                <a:spcPct val="100000"/>
              </a:lnSpc>
            </a:pPr>
            <a:r>
              <a:rPr lang="en-GB" sz="1800" b="1" strike="noStrike" spc="-1">
                <a:solidFill>
                  <a:schemeClr val="lt1"/>
                </a:solidFill>
                <a:latin typeface="Calibri"/>
              </a:rPr>
              <a:t>3. Economic Catastrophe</a:t>
            </a:r>
            <a:endParaRPr lang="en-US" sz="1800" b="0" strike="noStrike" spc="-1">
              <a:solidFill>
                <a:srgbClr val="FFFFFF"/>
              </a:solidFill>
              <a:latin typeface="Arial"/>
            </a:endParaRPr>
          </a:p>
          <a:p>
            <a:pPr defTabSz="914400">
              <a:lnSpc>
                <a:spcPct val="100000"/>
              </a:lnSpc>
            </a:pPr>
            <a:r>
              <a:rPr lang="en-GB" sz="1800" b="0" strike="noStrike" spc="-1">
                <a:solidFill>
                  <a:schemeClr val="lt1"/>
                </a:solidFill>
                <a:latin typeface="Calibri"/>
              </a:rPr>
              <a:t>The global space industry, worth over </a:t>
            </a:r>
            <a:r>
              <a:rPr lang="en-GB" sz="1800" b="1" strike="noStrike" spc="-1">
                <a:solidFill>
                  <a:schemeClr val="lt1"/>
                </a:solidFill>
                <a:latin typeface="Calibri"/>
              </a:rPr>
              <a:t>$400 billion</a:t>
            </a:r>
            <a:r>
              <a:rPr lang="en-GB" sz="1800" b="0" strike="noStrike" spc="-1">
                <a:solidFill>
                  <a:schemeClr val="lt1"/>
                </a:solidFill>
                <a:latin typeface="Calibri"/>
              </a:rPr>
              <a:t>, would face devastating losses. Industries relying on satellite technology—like telecommunications, agriculture, and finance—would also suffer severe setbacks, causing a domino effect in the global economy.</a:t>
            </a:r>
            <a:endParaRPr lang="en-US" sz="1800" b="0" strike="noStrike" spc="-1">
              <a:solidFill>
                <a:srgbClr val="FFFFFF"/>
              </a:solidFill>
              <a:latin typeface="Arial"/>
            </a:endParaRPr>
          </a:p>
          <a:p>
            <a:pPr defTabSz="914400">
              <a:lnSpc>
                <a:spcPct val="100000"/>
              </a:lnSpc>
            </a:pPr>
            <a:r>
              <a:rPr lang="en-GB" sz="1800" b="1" strike="noStrike" spc="-1">
                <a:solidFill>
                  <a:schemeClr val="lt1"/>
                </a:solidFill>
                <a:latin typeface="Calibri"/>
              </a:rPr>
              <a:t>4. Military and National Security Risks</a:t>
            </a:r>
            <a:endParaRPr lang="en-US" sz="1800" b="0" strike="noStrike" spc="-1">
              <a:solidFill>
                <a:srgbClr val="FFFFFF"/>
              </a:solidFill>
              <a:latin typeface="Arial"/>
            </a:endParaRPr>
          </a:p>
          <a:p>
            <a:pPr defTabSz="914400">
              <a:lnSpc>
                <a:spcPct val="100000"/>
              </a:lnSpc>
            </a:pPr>
            <a:r>
              <a:rPr lang="en-GB" sz="1800" b="0" strike="noStrike" spc="-1">
                <a:solidFill>
                  <a:schemeClr val="lt1"/>
                </a:solidFill>
                <a:latin typeface="Calibri"/>
              </a:rPr>
              <a:t>Many nations rely on satellites for surveillance and defense. Losing these capabilities could lead to geopolitical instability and increased vulnerability to cyber or physical threats.</a:t>
            </a:r>
            <a:endParaRPr lang="en-US" sz="1800" b="0" strike="noStrike" spc="-1">
              <a:solidFill>
                <a:srgbClr val="FFFFFF"/>
              </a:solidFill>
              <a:latin typeface="Arial"/>
            </a:endParaRPr>
          </a:p>
          <a:p>
            <a:pPr defTabSz="914400">
              <a:lnSpc>
                <a:spcPct val="100000"/>
              </a:lnSpc>
            </a:pPr>
            <a:endParaRPr lang="en-US" sz="1800" b="0" strike="noStrike" spc="-1">
              <a:solidFill>
                <a:srgbClr val="FFFFFF"/>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64" name="TextBox 6"/>
          <p:cNvSpPr/>
          <p:nvPr/>
        </p:nvSpPr>
        <p:spPr>
          <a:xfrm>
            <a:off x="1028880" y="101916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Stop it </a:t>
            </a:r>
            <a:r>
              <a:rPr lang="en-US" sz="9000" b="1" strike="noStrike" spc="-1">
                <a:solidFill>
                  <a:srgbClr val="FFBD00"/>
                </a:solidFill>
                <a:latin typeface="Century Gothic Paneuropean Heavy"/>
                <a:ea typeface="Century Gothic Paneuropean Heavy"/>
              </a:rPr>
              <a:t>and Tidy up</a:t>
            </a:r>
            <a:endParaRPr lang="en-US" sz="9000" b="0" strike="noStrike" spc="-1">
              <a:solidFill>
                <a:srgbClr val="FFFFFF"/>
              </a:solidFill>
              <a:latin typeface="Arial"/>
            </a:endParaRPr>
          </a:p>
        </p:txBody>
      </p:sp>
      <p:sp>
        <p:nvSpPr>
          <p:cNvPr id="165" name="TextBox 7"/>
          <p:cNvSpPr/>
          <p:nvPr/>
        </p:nvSpPr>
        <p:spPr>
          <a:xfrm>
            <a:off x="1028880" y="400536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66" name="TextBox 8"/>
          <p:cNvSpPr/>
          <p:nvPr/>
        </p:nvSpPr>
        <p:spPr>
          <a:xfrm>
            <a:off x="5283720" y="400536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67" name="TextBox 9"/>
          <p:cNvSpPr/>
          <p:nvPr/>
        </p:nvSpPr>
        <p:spPr>
          <a:xfrm>
            <a:off x="1028880" y="699840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68" name="TextBox 10"/>
          <p:cNvSpPr/>
          <p:nvPr/>
        </p:nvSpPr>
        <p:spPr>
          <a:xfrm>
            <a:off x="5283720" y="699840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69" name="TextBox 11"/>
          <p:cNvSpPr/>
          <p:nvPr/>
        </p:nvSpPr>
        <p:spPr>
          <a:xfrm>
            <a:off x="102888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70" name="TextBox 12"/>
          <p:cNvSpPr/>
          <p:nvPr/>
        </p:nvSpPr>
        <p:spPr>
          <a:xfrm>
            <a:off x="528372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71" name="TextBox 13"/>
          <p:cNvSpPr/>
          <p:nvPr/>
        </p:nvSpPr>
        <p:spPr>
          <a:xfrm>
            <a:off x="102888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72" name="TextBox 14"/>
          <p:cNvSpPr/>
          <p:nvPr/>
        </p:nvSpPr>
        <p:spPr>
          <a:xfrm>
            <a:off x="528372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grpSp>
        <p:nvGrpSpPr>
          <p:cNvPr id="173" name="Group 6"/>
          <p:cNvGrpSpPr/>
          <p:nvPr/>
        </p:nvGrpSpPr>
        <p:grpSpPr>
          <a:xfrm>
            <a:off x="7492320" y="3423240"/>
            <a:ext cx="2923920" cy="2923920"/>
            <a:chOff x="7492320" y="3423240"/>
            <a:chExt cx="2923920" cy="2923920"/>
          </a:xfrm>
        </p:grpSpPr>
        <p:sp>
          <p:nvSpPr>
            <p:cNvPr id="174" name="Freeform 7"/>
            <p:cNvSpPr/>
            <p:nvPr/>
          </p:nvSpPr>
          <p:spPr>
            <a:xfrm>
              <a:off x="7492320" y="3423240"/>
              <a:ext cx="2923920" cy="2923920"/>
            </a:xfrm>
            <a:custGeom>
              <a:avLst/>
              <a:gdLst>
                <a:gd name="textAreaLeft" fmla="*/ 0 w 2923920"/>
                <a:gd name="textAreaRight" fmla="*/ 2926080 w 2923920"/>
                <a:gd name="textAreaTop" fmla="*/ 0 h 2923920"/>
                <a:gd name="textAreaBottom" fmla="*/ 2926080 h 2923920"/>
              </a:gdLst>
              <a:ahLst/>
              <a:cxnLst/>
              <a:rect l="textAreaLeft" t="textAreaTop" r="textAreaRight" b="textAreaBottom"/>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grpSp>
        <p:nvGrpSpPr>
          <p:cNvPr id="175" name="Group 8"/>
          <p:cNvGrpSpPr/>
          <p:nvPr/>
        </p:nvGrpSpPr>
        <p:grpSpPr>
          <a:xfrm>
            <a:off x="3193920" y="3423240"/>
            <a:ext cx="2923920" cy="2923920"/>
            <a:chOff x="3193920" y="3423240"/>
            <a:chExt cx="2923920" cy="2923920"/>
          </a:xfrm>
        </p:grpSpPr>
        <p:sp>
          <p:nvSpPr>
            <p:cNvPr id="176" name="Freeform 9"/>
            <p:cNvSpPr/>
            <p:nvPr/>
          </p:nvSpPr>
          <p:spPr>
            <a:xfrm>
              <a:off x="3193920" y="3423240"/>
              <a:ext cx="2923920" cy="2923920"/>
            </a:xfrm>
            <a:custGeom>
              <a:avLst/>
              <a:gdLst>
                <a:gd name="textAreaLeft" fmla="*/ 0 w 2923920"/>
                <a:gd name="textAreaRight" fmla="*/ 2926080 w 2923920"/>
                <a:gd name="textAreaTop" fmla="*/ 0 h 2923920"/>
                <a:gd name="textAreaBottom" fmla="*/ 2926080 h 2923920"/>
              </a:gdLst>
              <a:ahLst/>
              <a:cxnLst/>
              <a:rect l="textAreaLeft" t="textAreaTop" r="textAreaRight" b="textAreaBottom"/>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grpSp>
        <p:nvGrpSpPr>
          <p:cNvPr id="177" name="Group 10"/>
          <p:cNvGrpSpPr/>
          <p:nvPr/>
        </p:nvGrpSpPr>
        <p:grpSpPr>
          <a:xfrm>
            <a:off x="11790720" y="3423240"/>
            <a:ext cx="2923920" cy="2923920"/>
            <a:chOff x="11790720" y="3423240"/>
            <a:chExt cx="2923920" cy="2923920"/>
          </a:xfrm>
        </p:grpSpPr>
        <p:sp>
          <p:nvSpPr>
            <p:cNvPr id="178" name="Freeform 11"/>
            <p:cNvSpPr/>
            <p:nvPr/>
          </p:nvSpPr>
          <p:spPr>
            <a:xfrm>
              <a:off x="11790720" y="3423240"/>
              <a:ext cx="2923920" cy="2923920"/>
            </a:xfrm>
            <a:custGeom>
              <a:avLst/>
              <a:gdLst>
                <a:gd name="textAreaLeft" fmla="*/ 0 w 2923920"/>
                <a:gd name="textAreaRight" fmla="*/ 2926080 w 2923920"/>
                <a:gd name="textAreaTop" fmla="*/ 0 h 2923920"/>
                <a:gd name="textAreaBottom" fmla="*/ 2926080 h 2923920"/>
              </a:gdLst>
              <a:ahLst/>
              <a:cxnLst/>
              <a:rect l="textAreaLeft" t="textAreaTop" r="textAreaRight" b="textAreaBottom"/>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sp>
        <p:nvSpPr>
          <p:cNvPr id="179" name="TextBox 12"/>
          <p:cNvSpPr/>
          <p:nvPr/>
        </p:nvSpPr>
        <p:spPr>
          <a:xfrm>
            <a:off x="890280" y="1019160"/>
            <a:ext cx="1650528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800"/>
              </a:lnSpc>
              <a:tabLst>
                <a:tab pos="0" algn="l"/>
              </a:tabLst>
            </a:pPr>
            <a:r>
              <a:rPr lang="en-US" sz="9000" b="1" strike="noStrike" spc="-378">
                <a:solidFill>
                  <a:srgbClr val="FFFFFF"/>
                </a:solidFill>
                <a:latin typeface="Century Gothic Paneuropean Heavy"/>
                <a:ea typeface="Century Gothic Paneuropean Heavy"/>
              </a:rPr>
              <a:t>Key </a:t>
            </a:r>
            <a:r>
              <a:rPr lang="en-US" sz="9000" b="1" strike="noStrike" spc="-378">
                <a:solidFill>
                  <a:srgbClr val="FFBD00"/>
                </a:solidFill>
                <a:latin typeface="Century Gothic Paneuropean Heavy"/>
                <a:ea typeface="Century Gothic Paneuropean Heavy"/>
              </a:rPr>
              <a:t>figures</a:t>
            </a:r>
            <a:endParaRPr lang="en-US" sz="9000" b="0" strike="noStrike" spc="-1">
              <a:solidFill>
                <a:srgbClr val="FFFFFF"/>
              </a:solidFill>
              <a:latin typeface="Arial"/>
            </a:endParaRPr>
          </a:p>
        </p:txBody>
      </p:sp>
      <p:sp>
        <p:nvSpPr>
          <p:cNvPr id="180" name="TextBox 15"/>
          <p:cNvSpPr/>
          <p:nvPr/>
        </p:nvSpPr>
        <p:spPr>
          <a:xfrm>
            <a:off x="7302240" y="6819480"/>
            <a:ext cx="33040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9AD3F3"/>
                </a:solidFill>
                <a:latin typeface="Open Sauce Semi-Bold"/>
                <a:ea typeface="Open Sauce Semi-Bold"/>
              </a:rPr>
              <a:t>Scientist name</a:t>
            </a:r>
            <a:endParaRPr lang="en-US" sz="3200" b="0" strike="noStrike" spc="-1">
              <a:solidFill>
                <a:srgbClr val="FFFFFF"/>
              </a:solidFill>
              <a:latin typeface="Arial"/>
            </a:endParaRPr>
          </a:p>
        </p:txBody>
      </p:sp>
      <p:sp>
        <p:nvSpPr>
          <p:cNvPr id="181" name="TextBox 16"/>
          <p:cNvSpPr/>
          <p:nvPr/>
        </p:nvSpPr>
        <p:spPr>
          <a:xfrm>
            <a:off x="7302240" y="7610400"/>
            <a:ext cx="3304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82" name="TextBox 17"/>
          <p:cNvSpPr/>
          <p:nvPr/>
        </p:nvSpPr>
        <p:spPr>
          <a:xfrm>
            <a:off x="3003840" y="6819480"/>
            <a:ext cx="33040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9AD3F3"/>
                </a:solidFill>
                <a:latin typeface="Open Sauce Semi-Bold"/>
                <a:ea typeface="Open Sauce Semi-Bold"/>
              </a:rPr>
              <a:t>Scientist name</a:t>
            </a:r>
            <a:endParaRPr lang="en-US" sz="3200" b="0" strike="noStrike" spc="-1">
              <a:solidFill>
                <a:srgbClr val="FFFFFF"/>
              </a:solidFill>
              <a:latin typeface="Arial"/>
            </a:endParaRPr>
          </a:p>
        </p:txBody>
      </p:sp>
      <p:sp>
        <p:nvSpPr>
          <p:cNvPr id="183" name="TextBox 18"/>
          <p:cNvSpPr/>
          <p:nvPr/>
        </p:nvSpPr>
        <p:spPr>
          <a:xfrm>
            <a:off x="3003840" y="7610400"/>
            <a:ext cx="3304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84" name="TextBox 19"/>
          <p:cNvSpPr/>
          <p:nvPr/>
        </p:nvSpPr>
        <p:spPr>
          <a:xfrm>
            <a:off x="11600640" y="6819480"/>
            <a:ext cx="33040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9AD3F3"/>
                </a:solidFill>
                <a:latin typeface="Open Sauce Semi-Bold"/>
                <a:ea typeface="Open Sauce Semi-Bold"/>
              </a:rPr>
              <a:t>Scientist name</a:t>
            </a:r>
            <a:endParaRPr lang="en-US" sz="3200" b="0" strike="noStrike" spc="-1">
              <a:solidFill>
                <a:srgbClr val="FFFFFF"/>
              </a:solidFill>
              <a:latin typeface="Arial"/>
            </a:endParaRPr>
          </a:p>
        </p:txBody>
      </p:sp>
      <p:sp>
        <p:nvSpPr>
          <p:cNvPr id="185" name="TextBox 20"/>
          <p:cNvSpPr/>
          <p:nvPr/>
        </p:nvSpPr>
        <p:spPr>
          <a:xfrm>
            <a:off x="11600640" y="7610400"/>
            <a:ext cx="3304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86" name="TextBox 6"/>
          <p:cNvSpPr/>
          <p:nvPr/>
        </p:nvSpPr>
        <p:spPr>
          <a:xfrm>
            <a:off x="1028880" y="1019160"/>
            <a:ext cx="142855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In </a:t>
            </a:r>
            <a:r>
              <a:rPr lang="en-US" sz="9000" b="1" strike="noStrike" spc="-1">
                <a:solidFill>
                  <a:srgbClr val="FFBD00"/>
                </a:solidFill>
                <a:latin typeface="Century Gothic Paneuropean Heavy"/>
                <a:ea typeface="Century Gothic Paneuropean Heavy"/>
              </a:rPr>
              <a:t>Conclusion</a:t>
            </a:r>
            <a:endParaRPr lang="en-US" sz="9000" b="0" strike="noStrike" spc="-1">
              <a:solidFill>
                <a:srgbClr val="FFFFFF"/>
              </a:solidFill>
              <a:latin typeface="Arial"/>
            </a:endParaRPr>
          </a:p>
        </p:txBody>
      </p:sp>
      <p:sp>
        <p:nvSpPr>
          <p:cNvPr id="187" name="TextBox 7"/>
          <p:cNvSpPr/>
          <p:nvPr/>
        </p:nvSpPr>
        <p:spPr>
          <a:xfrm>
            <a:off x="1028880" y="400536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88" name="TextBox 8"/>
          <p:cNvSpPr/>
          <p:nvPr/>
        </p:nvSpPr>
        <p:spPr>
          <a:xfrm>
            <a:off x="5283720" y="400536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89" name="TextBox 9"/>
          <p:cNvSpPr/>
          <p:nvPr/>
        </p:nvSpPr>
        <p:spPr>
          <a:xfrm>
            <a:off x="1028880" y="6998400"/>
            <a:ext cx="3868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90" name="TextBox 10"/>
          <p:cNvSpPr/>
          <p:nvPr/>
        </p:nvSpPr>
        <p:spPr>
          <a:xfrm>
            <a:off x="5283720" y="6998400"/>
            <a:ext cx="40305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91" name="TextBox 11"/>
          <p:cNvSpPr/>
          <p:nvPr/>
        </p:nvSpPr>
        <p:spPr>
          <a:xfrm>
            <a:off x="102888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92" name="TextBox 12"/>
          <p:cNvSpPr/>
          <p:nvPr/>
        </p:nvSpPr>
        <p:spPr>
          <a:xfrm>
            <a:off x="5283720" y="4686840"/>
            <a:ext cx="386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93" name="TextBox 13"/>
          <p:cNvSpPr/>
          <p:nvPr/>
        </p:nvSpPr>
        <p:spPr>
          <a:xfrm>
            <a:off x="102888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94" name="TextBox 14"/>
          <p:cNvSpPr/>
          <p:nvPr/>
        </p:nvSpPr>
        <p:spPr>
          <a:xfrm>
            <a:off x="5283720" y="7679880"/>
            <a:ext cx="39780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630</TotalTime>
  <Words>700</Words>
  <Application>Microsoft Macintosh PowerPoint</Application>
  <PresentationFormat>Custom</PresentationFormat>
  <Paragraphs>108</Paragraphs>
  <Slides>15</Slides>
  <Notes>0</Notes>
  <HiddenSlides>0</HiddenSlides>
  <MMClips>0</MMClips>
  <ScaleCrop>false</ScaleCrop>
  <HeadingPairs>
    <vt:vector size="6" baseType="variant">
      <vt:variant>
        <vt:lpstr>Fonts Used</vt:lpstr>
      </vt:variant>
      <vt:variant>
        <vt:i4>8</vt:i4>
      </vt:variant>
      <vt:variant>
        <vt:lpstr>Theme</vt:lpstr>
      </vt:variant>
      <vt:variant>
        <vt:i4>11</vt:i4>
      </vt:variant>
      <vt:variant>
        <vt:lpstr>Slide Titles</vt:lpstr>
      </vt:variant>
      <vt:variant>
        <vt:i4>15</vt:i4>
      </vt:variant>
    </vt:vector>
  </HeadingPairs>
  <TitlesOfParts>
    <vt:vector size="34" baseType="lpstr">
      <vt:lpstr>Arial</vt:lpstr>
      <vt:lpstr>Calibri</vt:lpstr>
      <vt:lpstr>Century Gothic Paneuropean Heavy</vt:lpstr>
      <vt:lpstr>Open Sauce</vt:lpstr>
      <vt:lpstr>Open Sauce Semi-Bold</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Launch to Litter: Orbital Overload</dc:title>
  <dc:subject/>
  <dc:creator/>
  <dc:description/>
  <cp:lastModifiedBy>Rowan, Tom</cp:lastModifiedBy>
  <cp:revision>16</cp:revision>
  <dcterms:created xsi:type="dcterms:W3CDTF">2006-08-16T00:00:00Z</dcterms:created>
  <dcterms:modified xsi:type="dcterms:W3CDTF">2025-12-01T11:31:09Z</dcterms:modified>
  <dc:identifier>DAG3TWXvXT0</dc:identifier>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13</vt:i4>
  </property>
</Properties>
</file>