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png" ContentType="image/png"/>
  <Override PartName="/ppt/media/image3.png" ContentType="image/png"/>
  <Override PartName="/ppt/media/image8.svg" ContentType="image/svg"/>
  <Override PartName="/ppt/media/image13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6.svg" ContentType="image/svg"/>
  <Override PartName="/ppt/media/image5.png" ContentType="image/png"/>
  <Override PartName="/ppt/media/image14.png" ContentType="image/png"/>
  <Override PartName="/ppt/media/image23.png" ContentType="image/png"/>
  <Override PartName="/ppt/media/image4.svg" ContentType="image/svg"/>
  <Override PartName="/ppt/media/image22.png" ContentType="image/png"/>
  <Override PartName="/ppt/media/image1.jpeg" ContentType="image/jpeg"/>
  <Override PartName="/ppt/media/image10.png" ContentType="image/png"/>
  <Override PartName="/ppt/media/image21.png" ContentType="image/png"/>
  <Override PartName="/ppt/media/image19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15.png" ContentType="image/png"/>
  <Override PartName="/ppt/media/image7.png" ContentType="image/png"/>
  <Override PartName="/ppt/media/image16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8.xml" ContentType="application/vnd.openxmlformats-officedocument.presentationml.notesSlide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notes'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601798C-D196-4A75-A370-449989ABA9BB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zxx" sz="2000" spc="-1" strike="noStrike">
                <a:solidFill>
                  <a:srgbClr val="000000"/>
                </a:solidFill>
                <a:latin typeface="Arial"/>
              </a:rPr>
              <a:t>Megaconstellations.</a:t>
            </a:r>
            <a:endParaRPr b="0" lang="zxx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None/>
            </a:pPr>
            <a:r>
              <a:rPr b="0" lang="zxx" sz="2000" spc="-1" strike="noStrike">
                <a:solidFill>
                  <a:srgbClr val="000000"/>
                </a:solidFill>
                <a:latin typeface="Arial"/>
              </a:rPr>
              <a:t>Starlink 9000 satellites right now.</a:t>
            </a:r>
            <a:endParaRPr b="0" lang="zx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zxx" sz="2000" spc="-1" strike="noStrike">
                <a:solidFill>
                  <a:srgbClr val="000000"/>
                </a:solidFill>
                <a:latin typeface="Arial"/>
              </a:rPr>
              <a:t>Megaconstellations.</a:t>
            </a:r>
            <a:endParaRPr b="0" lang="zxx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buNone/>
            </a:pPr>
            <a:r>
              <a:rPr b="0" lang="zxx" sz="2000" spc="-1" strike="noStrike">
                <a:solidFill>
                  <a:srgbClr val="000000"/>
                </a:solidFill>
                <a:latin typeface="Arial"/>
              </a:rPr>
              <a:t>Starlink 9000 satellites right now.</a:t>
            </a:r>
            <a:endParaRPr b="0" lang="zx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zxx" sz="2000" spc="-1" strike="noStrike">
                <a:solidFill>
                  <a:srgbClr val="000000"/>
                </a:solidFill>
                <a:latin typeface="Arial"/>
              </a:rPr>
              <a:t>Nets, robot arms and drag sails.</a:t>
            </a:r>
            <a:endParaRPr b="0" lang="zxx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ts val="3359"/>
              </a:lnSpc>
              <a:buNone/>
              <a:tabLst>
                <a:tab algn="l" pos="0"/>
              </a:tabLst>
            </a:pPr>
            <a:r>
              <a:rPr b="0" lang="zxx" sz="2400" spc="-1" strike="noStrike">
                <a:solidFill>
                  <a:srgbClr val="000000"/>
                </a:solidFill>
                <a:latin typeface="Open Sauce"/>
                <a:ea typeface="Open Sauce"/>
              </a:rPr>
              <a:t>ESA ClearSpace-1.</a:t>
            </a:r>
            <a:endParaRPr b="0" lang="zxx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5698AC-AEF2-4D3D-B671-C411E4EAB8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62C746-9D1E-4A14-8D6D-CCC373C59A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951718-0BDC-499C-BCED-AC270A20A2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A9CD89-401B-40EE-8AE4-02D9B60B5B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83EEB88-8F6D-4E84-A6C8-7C2981010E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835B9A-09F1-46F9-80DA-14950566CA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4070D1-F424-4AF6-9FF1-07A1808EDD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DC0EDE2-0346-419C-AAE3-23B1FEBFDD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DCF8BD6-D07C-4F22-AEF4-154E28D6B8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2B2B034-598B-4EDE-AC72-ACCF34AEB8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A03A142-D974-4210-816A-1D13EB23B0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2E33C9-33BD-4D45-8BAF-33D88FA4BCF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ACDC41-AD5D-43F1-B437-6A10C550993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6D5F0A-3DCC-465D-A120-1B3E2AC1ED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00ECD4-89A0-43D7-8A8E-8C61BD40F2B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33F39A-B131-484C-BE95-057474004ED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1C45C3-5BC8-46E3-9D21-9458B519F31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059236-86E1-4344-A3DD-A97724C7364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5B1A35-18CF-4DE0-86EB-E57EC70B1B4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B9A2FD-94C2-4BE4-A306-C6D939A06ED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111213-BB53-491B-80EE-7D8A77812DA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7A1EDF-8FD8-46B0-8167-438F72F6EF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image" Target="../media/image7.png"/><Relationship Id="rId16" Type="http://schemas.openxmlformats.org/officeDocument/2006/relationships/image" Target="../media/image8.svg"/><Relationship Id="rId17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2"/>
          <p:cNvGrpSpPr/>
          <p:nvPr/>
        </p:nvGrpSpPr>
        <p:grpSpPr>
          <a:xfrm>
            <a:off x="0" y="0"/>
            <a:ext cx="18285120" cy="10284120"/>
            <a:chOff x="0" y="0"/>
            <a:chExt cx="18285120" cy="10284120"/>
          </a:xfrm>
        </p:grpSpPr>
        <p:sp>
          <p:nvSpPr>
            <p:cNvPr id="57" name="Freeform 3"/>
            <p:cNvSpPr/>
            <p:nvPr/>
          </p:nvSpPr>
          <p:spPr>
            <a:xfrm>
              <a:off x="0" y="0"/>
              <a:ext cx="18285120" cy="10284120"/>
            </a:xfrm>
            <a:custGeom>
              <a:avLst/>
              <a:gdLst>
                <a:gd name="textAreaLeft" fmla="*/ 0 w 18285120"/>
                <a:gd name="textAreaRight" fmla="*/ 18288000 w 18285120"/>
                <a:gd name="textAreaTop" fmla="*/ 0 h 10284120"/>
                <a:gd name="textAreaBottom" fmla="*/ 10287000 h 10284120"/>
              </a:gdLst>
              <a:ahLst/>
              <a:rect l="textAreaLeft" t="textAreaTop" r="textAreaRight" b="textAreaBottom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58" name="Group 4"/>
            <p:cNvGrpSpPr/>
            <p:nvPr/>
          </p:nvGrpSpPr>
          <p:grpSpPr>
            <a:xfrm>
              <a:off x="13716000" y="1589760"/>
              <a:ext cx="1330560" cy="1847520"/>
              <a:chOff x="13716000" y="1589760"/>
              <a:chExt cx="1330560" cy="1847520"/>
            </a:xfrm>
          </p:grpSpPr>
          <p:sp>
            <p:nvSpPr>
              <p:cNvPr id="59" name="Freeform 5"/>
              <p:cNvSpPr/>
              <p:nvPr/>
            </p:nvSpPr>
            <p:spPr>
              <a:xfrm>
                <a:off x="13716000" y="1770480"/>
                <a:ext cx="1330560" cy="1666800"/>
              </a:xfrm>
              <a:custGeom>
                <a:avLst/>
                <a:gdLst>
                  <a:gd name="textAreaLeft" fmla="*/ 0 w 1330560"/>
                  <a:gd name="textAreaRight" fmla="*/ 1333440 w 1330560"/>
                  <a:gd name="textAreaTop" fmla="*/ 0 h 1666800"/>
                  <a:gd name="textAreaBottom" fmla="*/ 1669680 h 1666800"/>
                </a:gdLst>
                <a:ahLst/>
                <a:rect l="textAreaLeft" t="textAreaTop" r="textAreaRight" b="textAreaBottom"/>
                <a:pathLst>
                  <a:path w="351210" h="439750">
                    <a:moveTo>
                      <a:pt x="0" y="0"/>
                    </a:moveTo>
                    <a:lnTo>
                      <a:pt x="351210" y="0"/>
                    </a:lnTo>
                    <a:lnTo>
                      <a:pt x="351210" y="439750"/>
                    </a:lnTo>
                    <a:lnTo>
                      <a:pt x="0" y="43975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zxx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60" name="TextBox 6"/>
              <p:cNvSpPr/>
              <p:nvPr/>
            </p:nvSpPr>
            <p:spPr>
              <a:xfrm>
                <a:off x="13716000" y="1589760"/>
                <a:ext cx="1330560" cy="1847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0760" rIns="50760" tIns="50760" bIns="50760" anchor="ctr">
                <a:noAutofit/>
              </a:bodyPr>
              <a:p>
                <a:pPr algn="ctr" defTabSz="914400">
                  <a:lnSpc>
                    <a:spcPts val="3359"/>
                  </a:lnSpc>
                </a:pPr>
                <a:endParaRPr b="0" lang="zxx" sz="18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</p:grpSp>
      <p:sp>
        <p:nvSpPr>
          <p:cNvPr id="61" name="TextBox 7"/>
          <p:cNvSpPr/>
          <p:nvPr/>
        </p:nvSpPr>
        <p:spPr>
          <a:xfrm>
            <a:off x="4486320" y="593640"/>
            <a:ext cx="9312480" cy="54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From Launch 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to Litter: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Orbital Overload 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Freeform 8"/>
          <p:cNvSpPr/>
          <p:nvPr/>
        </p:nvSpPr>
        <p:spPr>
          <a:xfrm>
            <a:off x="8751960" y="4398840"/>
            <a:ext cx="10915560" cy="4610160"/>
          </a:xfrm>
          <a:custGeom>
            <a:avLst/>
            <a:gdLst>
              <a:gd name="textAreaLeft" fmla="*/ 0 w 10915560"/>
              <a:gd name="textAreaRight" fmla="*/ 10918440 w 10915560"/>
              <a:gd name="textAreaTop" fmla="*/ 0 h 4610160"/>
              <a:gd name="textAreaBottom" fmla="*/ 4613040 h 4610160"/>
            </a:gdLst>
            <a:ahLst/>
            <a:rect l="textAreaLeft" t="textAreaTop" r="textAreaRight" b="textAreaBottom"/>
            <a:pathLst>
              <a:path w="10918450" h="4613045">
                <a:moveTo>
                  <a:pt x="0" y="0"/>
                </a:moveTo>
                <a:lnTo>
                  <a:pt x="10918450" y="0"/>
                </a:lnTo>
                <a:lnTo>
                  <a:pt x="10918450" y="4613045"/>
                </a:lnTo>
                <a:lnTo>
                  <a:pt x="0" y="46130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TextBox 9"/>
          <p:cNvSpPr/>
          <p:nvPr/>
        </p:nvSpPr>
        <p:spPr>
          <a:xfrm>
            <a:off x="15163920" y="9487080"/>
            <a:ext cx="3121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zxx" sz="1800" spc="-1" strike="noStrike">
                <a:solidFill>
                  <a:srgbClr val="ffffff"/>
                </a:solidFill>
                <a:latin typeface="Century Gothic Paneuropean Heavy"/>
              </a:rPr>
              <a:t>Tom Rowan</a:t>
            </a:r>
            <a:r>
              <a:rPr b="1" lang="zxx" sz="1800" spc="-1" strike="noStrike">
                <a:solidFill>
                  <a:srgbClr val="9ad3f3"/>
                </a:solidFill>
                <a:latin typeface="Century Gothic Paneuropean Heavy"/>
              </a:rPr>
              <a:t>, ST20285213</a:t>
            </a:r>
            <a:endParaRPr b="0" lang="zxx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zxx" sz="1800" spc="-1" strike="noStrike">
                <a:solidFill>
                  <a:srgbClr val="9ad3f3"/>
                </a:solidFill>
                <a:latin typeface="Century Gothic Paneuropean Heavy"/>
              </a:rPr>
              <a:t>DAT5001_S2_25 PRES1</a:t>
            </a:r>
            <a:endParaRPr b="0" lang="zxx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890280" y="1028880"/>
            <a:ext cx="165045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zxx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Table Of </a:t>
            </a:r>
            <a:r>
              <a:rPr b="1" lang="zxx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Contents</a:t>
            </a:r>
            <a:endParaRPr b="0" lang="zxx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7848720" y="6591240"/>
            <a:ext cx="368388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Exploring </a:t>
            </a:r>
            <a:br>
              <a:rPr sz="3200"/>
            </a:b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Data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8336520" y="3328560"/>
            <a:ext cx="2319480" cy="2708640"/>
          </a:xfrm>
          <a:custGeom>
            <a:avLst/>
            <a:gdLst>
              <a:gd name="textAreaLeft" fmla="*/ 0 w 2319480"/>
              <a:gd name="textAreaRight" fmla="*/ 2322360 w 2319480"/>
              <a:gd name="textAreaTop" fmla="*/ 0 h 2708640"/>
              <a:gd name="textAreaBottom" fmla="*/ 2711520 h 2708640"/>
            </a:gdLst>
            <a:ahLst/>
            <a:rect l="textAreaLeft" t="textAreaTop" r="textAreaRight" b="textAreaBottom"/>
            <a:pathLst>
              <a:path w="2322193" h="2711690">
                <a:moveTo>
                  <a:pt x="0" y="0"/>
                </a:moveTo>
                <a:lnTo>
                  <a:pt x="2322193" y="0"/>
                </a:lnTo>
                <a:lnTo>
                  <a:pt x="2322193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12313800" y="6606000"/>
            <a:ext cx="379152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Planning for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Future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Freeform 8"/>
          <p:cNvSpPr/>
          <p:nvPr/>
        </p:nvSpPr>
        <p:spPr>
          <a:xfrm>
            <a:off x="12557880" y="3328560"/>
            <a:ext cx="2759040" cy="2708640"/>
          </a:xfrm>
          <a:custGeom>
            <a:avLst/>
            <a:gdLst>
              <a:gd name="textAreaLeft" fmla="*/ 0 w 2759040"/>
              <a:gd name="textAreaRight" fmla="*/ 2761920 w 2759040"/>
              <a:gd name="textAreaTop" fmla="*/ 0 h 2708640"/>
              <a:gd name="textAreaBottom" fmla="*/ 2711520 h 2708640"/>
            </a:gdLst>
            <a:ahLst/>
            <a:rect l="textAreaLeft" t="textAreaTop" r="textAreaRight" b="textAreaBottom"/>
            <a:pathLst>
              <a:path w="2761907" h="2711690">
                <a:moveTo>
                  <a:pt x="0" y="0"/>
                </a:moveTo>
                <a:lnTo>
                  <a:pt x="2761906" y="0"/>
                </a:lnTo>
                <a:lnTo>
                  <a:pt x="2761906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Freeform 10"/>
          <p:cNvSpPr/>
          <p:nvPr/>
        </p:nvSpPr>
        <p:spPr>
          <a:xfrm>
            <a:off x="2902680" y="3444120"/>
            <a:ext cx="2915280" cy="2915280"/>
          </a:xfrm>
          <a:custGeom>
            <a:avLst/>
            <a:gdLst>
              <a:gd name="textAreaLeft" fmla="*/ 0 w 2915280"/>
              <a:gd name="textAreaRight" fmla="*/ 2918160 w 2915280"/>
              <a:gd name="textAreaTop" fmla="*/ 0 h 2915280"/>
              <a:gd name="textAreaBottom" fmla="*/ 2918160 h 291528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1988280" y="6629400"/>
            <a:ext cx="486792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What is the Kessler Syndrome?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7849080" y="7778880"/>
            <a:ext cx="36838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Arial"/>
                <a:ea typeface="Open Sauce"/>
              </a:rPr>
              <a:t>Looking at what’s in orbit and </a:t>
            </a:r>
            <a:r>
              <a:rPr b="0" lang="zxx" sz="2400" spc="-1" strike="noStrike">
                <a:solidFill>
                  <a:srgbClr val="ffffff"/>
                </a:solidFill>
                <a:latin typeface="Arial"/>
                <a:ea typeface="Open Sauce"/>
              </a:rPr>
              <a:t>who put it there.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Box 54"/>
          <p:cNvSpPr/>
          <p:nvPr/>
        </p:nvSpPr>
        <p:spPr>
          <a:xfrm>
            <a:off x="12497040" y="7778880"/>
            <a:ext cx="3303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How can we avoid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 disaster?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Box 55"/>
          <p:cNvSpPr/>
          <p:nvPr/>
        </p:nvSpPr>
        <p:spPr>
          <a:xfrm>
            <a:off x="2743560" y="7778880"/>
            <a:ext cx="33033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And its potential impact on civilization.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10"/>
          <p:cNvSpPr/>
          <p:nvPr/>
        </p:nvSpPr>
        <p:spPr>
          <a:xfrm>
            <a:off x="12801600" y="651528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Freeform 10"/>
          <p:cNvSpPr/>
          <p:nvPr/>
        </p:nvSpPr>
        <p:spPr>
          <a:xfrm>
            <a:off x="12801600" y="430524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76" name="Group 53"/>
          <p:cNvGrpSpPr/>
          <p:nvPr/>
        </p:nvGrpSpPr>
        <p:grpSpPr>
          <a:xfrm>
            <a:off x="12649320" y="4610160"/>
            <a:ext cx="1216440" cy="3349800"/>
            <a:chOff x="12649320" y="4610160"/>
            <a:chExt cx="1216440" cy="3349800"/>
          </a:xfrm>
        </p:grpSpPr>
        <p:sp>
          <p:nvSpPr>
            <p:cNvPr id="77" name="Explosion: 8 Points 36"/>
            <p:cNvSpPr/>
            <p:nvPr/>
          </p:nvSpPr>
          <p:spPr>
            <a:xfrm>
              <a:off x="12649320" y="681984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8" name="Explosion: 8 Points 34"/>
            <p:cNvSpPr/>
            <p:nvPr/>
          </p:nvSpPr>
          <p:spPr>
            <a:xfrm>
              <a:off x="12649320" y="461016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9" name="TextBox 2"/>
          <p:cNvSpPr/>
          <p:nvPr/>
        </p:nvSpPr>
        <p:spPr>
          <a:xfrm>
            <a:off x="887040" y="731520"/>
            <a:ext cx="165045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zxx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the </a:t>
            </a:r>
            <a:r>
              <a:rPr b="1" lang="zxx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Kessler Syndrome?</a:t>
            </a:r>
            <a:endParaRPr b="0" lang="zxx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Freeform 10"/>
          <p:cNvSpPr/>
          <p:nvPr/>
        </p:nvSpPr>
        <p:spPr>
          <a:xfrm>
            <a:off x="10515600" y="529596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1143000" y="354348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Collision Cascade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11"/>
          <p:cNvSpPr/>
          <p:nvPr/>
        </p:nvSpPr>
        <p:spPr>
          <a:xfrm>
            <a:off x="1143000" y="4305240"/>
            <a:ext cx="58644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 scenario where satellite and/or space debris collisions cause a cascade effect, making low Earth orbit unusable.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1143000" y="674388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Disaster Scenario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43000" y="7505640"/>
            <a:ext cx="60930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identified in 1978 by Donald J. Kessler and Burton G. Cour-Palais.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Explosion: 8 Points 21"/>
          <p:cNvSpPr/>
          <p:nvPr/>
        </p:nvSpPr>
        <p:spPr>
          <a:xfrm>
            <a:off x="10363320" y="5600880"/>
            <a:ext cx="1216440" cy="1140120"/>
          </a:xfrm>
          <a:prstGeom prst="irregularSeal1">
            <a:avLst/>
          </a:prstGeom>
          <a:solidFill>
            <a:srgbClr val="ffbd00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Freeform 10"/>
          <p:cNvSpPr/>
          <p:nvPr/>
        </p:nvSpPr>
        <p:spPr>
          <a:xfrm>
            <a:off x="7924680" y="529596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Arrow: Right 24"/>
          <p:cNvSpPr/>
          <p:nvPr/>
        </p:nvSpPr>
        <p:spPr>
          <a:xfrm>
            <a:off x="9220320" y="5524560"/>
            <a:ext cx="1063800" cy="68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f1a38"/>
          </a:solidFill>
          <a:ln>
            <a:solidFill>
              <a:srgbClr val="fffff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zxx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Freeform 10"/>
          <p:cNvSpPr/>
          <p:nvPr/>
        </p:nvSpPr>
        <p:spPr>
          <a:xfrm>
            <a:off x="15468480" y="461016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9" name="Freeform 10"/>
          <p:cNvSpPr/>
          <p:nvPr/>
        </p:nvSpPr>
        <p:spPr>
          <a:xfrm>
            <a:off x="15468480" y="293364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Freeform 10"/>
          <p:cNvSpPr/>
          <p:nvPr/>
        </p:nvSpPr>
        <p:spPr>
          <a:xfrm>
            <a:off x="15468480" y="803916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1" name="Freeform 10"/>
          <p:cNvSpPr/>
          <p:nvPr/>
        </p:nvSpPr>
        <p:spPr>
          <a:xfrm>
            <a:off x="15468480" y="6362640"/>
            <a:ext cx="1140120" cy="1140120"/>
          </a:xfrm>
          <a:custGeom>
            <a:avLst/>
            <a:gdLst>
              <a:gd name="textAreaLeft" fmla="*/ 0 w 1140120"/>
              <a:gd name="textAreaRight" fmla="*/ 1143000 w 1140120"/>
              <a:gd name="textAreaTop" fmla="*/ 0 h 1140120"/>
              <a:gd name="textAreaBottom" fmla="*/ 1143000 h 114012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92" name="Group 55"/>
          <p:cNvGrpSpPr/>
          <p:nvPr/>
        </p:nvGrpSpPr>
        <p:grpSpPr>
          <a:xfrm>
            <a:off x="15316200" y="3238560"/>
            <a:ext cx="1216440" cy="6245640"/>
            <a:chOff x="15316200" y="3238560"/>
            <a:chExt cx="1216440" cy="6245640"/>
          </a:xfrm>
        </p:grpSpPr>
        <p:sp>
          <p:nvSpPr>
            <p:cNvPr id="93" name="Explosion: 8 Points 38"/>
            <p:cNvSpPr/>
            <p:nvPr/>
          </p:nvSpPr>
          <p:spPr>
            <a:xfrm>
              <a:off x="15316200" y="491508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4" name="Explosion: 8 Points 40"/>
            <p:cNvSpPr/>
            <p:nvPr/>
          </p:nvSpPr>
          <p:spPr>
            <a:xfrm>
              <a:off x="15316200" y="323856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5" name="Explosion: 8 Points 42"/>
            <p:cNvSpPr/>
            <p:nvPr/>
          </p:nvSpPr>
          <p:spPr>
            <a:xfrm>
              <a:off x="15316200" y="834408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6" name="Explosion: 8 Points 44"/>
            <p:cNvSpPr/>
            <p:nvPr/>
          </p:nvSpPr>
          <p:spPr>
            <a:xfrm>
              <a:off x="15316200" y="6667560"/>
              <a:ext cx="1216440" cy="114012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97" name="Group 54"/>
          <p:cNvGrpSpPr/>
          <p:nvPr/>
        </p:nvGrpSpPr>
        <p:grpSpPr>
          <a:xfrm>
            <a:off x="14095080" y="3695400"/>
            <a:ext cx="1033560" cy="4871880"/>
            <a:chOff x="14095080" y="3695400"/>
            <a:chExt cx="1033560" cy="4871880"/>
          </a:xfrm>
        </p:grpSpPr>
        <p:sp>
          <p:nvSpPr>
            <p:cNvPr id="98" name="Arrow: Right 46"/>
            <p:cNvSpPr/>
            <p:nvPr/>
          </p:nvSpPr>
          <p:spPr>
            <a:xfrm rot="20311800">
              <a:off x="14270400" y="3810600"/>
              <a:ext cx="759240" cy="6829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9" name="Arrow: Right 47"/>
            <p:cNvSpPr/>
            <p:nvPr/>
          </p:nvSpPr>
          <p:spPr>
            <a:xfrm flipV="1" rot="1288200">
              <a:off x="14193360" y="7768800"/>
              <a:ext cx="760320" cy="6825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0" name="Arrow: Right 49"/>
            <p:cNvSpPr/>
            <p:nvPr/>
          </p:nvSpPr>
          <p:spPr>
            <a:xfrm flipV="1">
              <a:off x="14249520" y="6893280"/>
              <a:ext cx="759240" cy="6829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" name="Arrow: Right 50"/>
            <p:cNvSpPr/>
            <p:nvPr/>
          </p:nvSpPr>
          <p:spPr>
            <a:xfrm flipV="1">
              <a:off x="14325480" y="4835880"/>
              <a:ext cx="759240" cy="6829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02" name="Group 52"/>
          <p:cNvGrpSpPr/>
          <p:nvPr/>
        </p:nvGrpSpPr>
        <p:grpSpPr>
          <a:xfrm>
            <a:off x="11733120" y="4990680"/>
            <a:ext cx="957240" cy="1976400"/>
            <a:chOff x="11733120" y="4990680"/>
            <a:chExt cx="957240" cy="1976400"/>
          </a:xfrm>
        </p:grpSpPr>
        <p:sp>
          <p:nvSpPr>
            <p:cNvPr id="103" name="Arrow: Right 45"/>
            <p:cNvSpPr/>
            <p:nvPr/>
          </p:nvSpPr>
          <p:spPr>
            <a:xfrm rot="20311800">
              <a:off x="11832120" y="5105880"/>
              <a:ext cx="759240" cy="6829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4" name="Arrow: Right 51"/>
            <p:cNvSpPr/>
            <p:nvPr/>
          </p:nvSpPr>
          <p:spPr>
            <a:xfrm flipV="1" rot="1288200">
              <a:off x="11831400" y="6168600"/>
              <a:ext cx="760320" cy="6825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f1a38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05" name="TextBox 47"/>
          <p:cNvSpPr/>
          <p:nvPr/>
        </p:nvSpPr>
        <p:spPr>
          <a:xfrm>
            <a:off x="5786640" y="9653040"/>
            <a:ext cx="6093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Chart data updated 1</a:t>
            </a:r>
            <a:r>
              <a:rPr b="0" lang="zxx" sz="2400" spc="-1" strike="noStrike" baseline="33000">
                <a:solidFill>
                  <a:srgbClr val="ffffff"/>
                </a:solidFill>
                <a:latin typeface="Open Sauce"/>
                <a:ea typeface="Open Sauce"/>
              </a:rPr>
              <a:t>st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 December 2025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0"/>
                            </p:stCondLst>
                            <p:childTnLst>
                              <p:par>
                                <p:cTn id="11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0"/>
                            </p:stCondLst>
                            <p:childTnLst>
                              <p:par>
                                <p:cTn id="14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0"/>
                            </p:stCondLst>
                            <p:childTnLst>
                              <p:par>
                                <p:cTn id="17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0"/>
                            </p:stCondLst>
                            <p:childTnLst>
                              <p:par>
                                <p:cTn id="20" nodeType="afterEffect" fill="hold" presetClass="entr" presetID="1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6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Satellite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Launch Trends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Picture 99" descr=""/>
          <p:cNvPicPr/>
          <p:nvPr/>
        </p:nvPicPr>
        <p:blipFill>
          <a:blip r:embed="rId1"/>
          <a:stretch/>
        </p:blipFill>
        <p:spPr>
          <a:xfrm>
            <a:off x="1265760" y="2057400"/>
            <a:ext cx="15648480" cy="7770240"/>
          </a:xfrm>
          <a:prstGeom prst="rect">
            <a:avLst/>
          </a:prstGeom>
          <a:ln w="0">
            <a:noFill/>
          </a:ln>
        </p:spPr>
      </p:pic>
      <p:sp>
        <p:nvSpPr>
          <p:cNvPr id="108" name="TextBox 5"/>
          <p:cNvSpPr/>
          <p:nvPr/>
        </p:nvSpPr>
        <p:spPr>
          <a:xfrm>
            <a:off x="9944280" y="2514600"/>
            <a:ext cx="58269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Objects In Orbit, Cumulative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22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What’s up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in Orbit?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25"/>
          <p:cNvSpPr/>
          <p:nvPr/>
        </p:nvSpPr>
        <p:spPr>
          <a:xfrm>
            <a:off x="13471920" y="1051560"/>
            <a:ext cx="433116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Count of Objects In Low Earth Orbit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119520" y="2237400"/>
            <a:ext cx="17880120" cy="766224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2"/>
          <a:stretch/>
        </p:blipFill>
        <p:spPr>
          <a:xfrm>
            <a:off x="5400000" y="2520000"/>
            <a:ext cx="5939640" cy="5939640"/>
          </a:xfrm>
          <a:prstGeom prst="rect">
            <a:avLst/>
          </a:prstGeom>
          <a:ln w="0">
            <a:noFill/>
          </a:ln>
        </p:spPr>
      </p:pic>
      <p:pic>
        <p:nvPicPr>
          <p:cNvPr id="113" name="" descr=""/>
          <p:cNvPicPr/>
          <p:nvPr/>
        </p:nvPicPr>
        <p:blipFill>
          <a:blip r:embed="rId3"/>
          <a:stretch/>
        </p:blipFill>
        <p:spPr>
          <a:xfrm>
            <a:off x="11010960" y="3060000"/>
            <a:ext cx="7168680" cy="473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32"/>
          <p:cNvSpPr/>
          <p:nvPr/>
        </p:nvSpPr>
        <p:spPr>
          <a:xfrm>
            <a:off x="13269240" y="1058400"/>
            <a:ext cx="433116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Mass of Payloads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in Low Earth Orbit 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21"/>
          <p:cNvSpPr/>
          <p:nvPr/>
        </p:nvSpPr>
        <p:spPr>
          <a:xfrm>
            <a:off x="887040" y="75456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Heavy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Metal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1"/>
          <a:stretch/>
        </p:blipFill>
        <p:spPr>
          <a:xfrm>
            <a:off x="180000" y="2340000"/>
            <a:ext cx="11339640" cy="7559640"/>
          </a:xfrm>
          <a:prstGeom prst="rect">
            <a:avLst/>
          </a:prstGeom>
          <a:ln w="0">
            <a:noFill/>
          </a:ln>
        </p:spPr>
      </p:pic>
      <p:pic>
        <p:nvPicPr>
          <p:cNvPr id="117" name="" descr=""/>
          <p:cNvPicPr/>
          <p:nvPr/>
        </p:nvPicPr>
        <p:blipFill>
          <a:blip r:embed="rId2"/>
          <a:stretch/>
        </p:blipFill>
        <p:spPr>
          <a:xfrm>
            <a:off x="2469240" y="3420000"/>
            <a:ext cx="8510400" cy="5219640"/>
          </a:xfrm>
          <a:prstGeom prst="rect">
            <a:avLst/>
          </a:prstGeom>
          <a:ln w="0">
            <a:noFill/>
          </a:ln>
        </p:spPr>
      </p:pic>
      <p:pic>
        <p:nvPicPr>
          <p:cNvPr id="118" name="" descr=""/>
          <p:cNvPicPr/>
          <p:nvPr/>
        </p:nvPicPr>
        <p:blipFill>
          <a:blip r:embed="rId3"/>
          <a:stretch/>
        </p:blipFill>
        <p:spPr>
          <a:xfrm>
            <a:off x="13679640" y="3705840"/>
            <a:ext cx="4320000" cy="4317480"/>
          </a:xfrm>
          <a:prstGeom prst="rect">
            <a:avLst/>
          </a:prstGeom>
          <a:ln w="0">
            <a:noFill/>
          </a:ln>
        </p:spPr>
      </p:pic>
      <p:pic>
        <p:nvPicPr>
          <p:cNvPr id="119" name="" descr=""/>
          <p:cNvPicPr/>
          <p:nvPr/>
        </p:nvPicPr>
        <p:blipFill>
          <a:blip r:embed="rId4"/>
          <a:stretch/>
        </p:blipFill>
        <p:spPr>
          <a:xfrm>
            <a:off x="11700000" y="1883520"/>
            <a:ext cx="6299640" cy="783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23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Where are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they all?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26"/>
          <p:cNvSpPr/>
          <p:nvPr/>
        </p:nvSpPr>
        <p:spPr>
          <a:xfrm>
            <a:off x="15009120" y="2445840"/>
            <a:ext cx="137016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endParaRPr b="0" lang="zxx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2" name="Picture 117" descr=""/>
          <p:cNvPicPr/>
          <p:nvPr/>
        </p:nvPicPr>
        <p:blipFill>
          <a:blip r:embed="rId1"/>
          <a:stretch/>
        </p:blipFill>
        <p:spPr>
          <a:xfrm>
            <a:off x="457200" y="3429000"/>
            <a:ext cx="17441640" cy="6170760"/>
          </a:xfrm>
          <a:prstGeom prst="rect">
            <a:avLst/>
          </a:prstGeom>
          <a:ln w="0">
            <a:noFill/>
          </a:ln>
        </p:spPr>
      </p:pic>
      <p:pic>
        <p:nvPicPr>
          <p:cNvPr id="123" name="Picture 118" descr=""/>
          <p:cNvPicPr/>
          <p:nvPr/>
        </p:nvPicPr>
        <p:blipFill>
          <a:blip r:embed="rId2"/>
          <a:stretch/>
        </p:blipFill>
        <p:spPr>
          <a:xfrm>
            <a:off x="13294800" y="447120"/>
            <a:ext cx="4799160" cy="4484520"/>
          </a:xfrm>
          <a:prstGeom prst="rect">
            <a:avLst/>
          </a:prstGeom>
          <a:ln w="0">
            <a:noFill/>
          </a:ln>
        </p:spPr>
      </p:pic>
      <p:sp>
        <p:nvSpPr>
          <p:cNvPr id="124" name="TextBox 28"/>
          <p:cNvSpPr/>
          <p:nvPr/>
        </p:nvSpPr>
        <p:spPr>
          <a:xfrm>
            <a:off x="9176400" y="2971080"/>
            <a:ext cx="4140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14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Orbital Paths of Payloads currently in Orbit</a:t>
            </a:r>
            <a:endParaRPr b="0" lang="zxx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3"/>
          <a:stretch/>
        </p:blipFill>
        <p:spPr>
          <a:xfrm>
            <a:off x="14938200" y="1697760"/>
            <a:ext cx="1800000" cy="1839240"/>
          </a:xfrm>
          <a:prstGeom prst="rect">
            <a:avLst/>
          </a:prstGeom>
          <a:ln w="0">
            <a:noFill/>
          </a:ln>
        </p:spPr>
      </p:pic>
      <p:sp>
        <p:nvSpPr>
          <p:cNvPr id="126" name="TextBox 29"/>
          <p:cNvSpPr/>
          <p:nvPr/>
        </p:nvSpPr>
        <p:spPr>
          <a:xfrm>
            <a:off x="997920" y="366408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Deep Space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30"/>
          <p:cNvSpPr/>
          <p:nvPr/>
        </p:nvSpPr>
        <p:spPr>
          <a:xfrm>
            <a:off x="997920" y="4345560"/>
            <a:ext cx="38678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In the 1960’s, many more payloads were launched into deep space.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33"/>
          <p:cNvSpPr/>
          <p:nvPr/>
        </p:nvSpPr>
        <p:spPr>
          <a:xfrm>
            <a:off x="997920" y="720000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Communications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34"/>
          <p:cNvSpPr/>
          <p:nvPr/>
        </p:nvSpPr>
        <p:spPr>
          <a:xfrm>
            <a:off x="997920" y="7881480"/>
            <a:ext cx="38678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Most modern satellites are for communications, requiring Low Earth Orbit.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31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Follow the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Money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1"/>
          <a:stretch/>
        </p:blipFill>
        <p:spPr>
          <a:xfrm>
            <a:off x="1692000" y="2340000"/>
            <a:ext cx="14957640" cy="7863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8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Operators and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Sponsors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10"/>
          <p:cNvSpPr/>
          <p:nvPr/>
        </p:nvSpPr>
        <p:spPr>
          <a:xfrm>
            <a:off x="626400" y="261108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Starlink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626400" y="3184560"/>
            <a:ext cx="38678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launch: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2018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launches: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10,413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Purpose: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Comms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14"/>
          <p:cNvSpPr/>
          <p:nvPr/>
        </p:nvSpPr>
        <p:spPr>
          <a:xfrm>
            <a:off x="626400" y="512568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OneWeb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63"/>
          <p:cNvSpPr/>
          <p:nvPr/>
        </p:nvSpPr>
        <p:spPr>
          <a:xfrm>
            <a:off x="626400" y="5699160"/>
            <a:ext cx="38678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launch: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2019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launches: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656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Purpose: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Internet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64"/>
          <p:cNvSpPr/>
          <p:nvPr/>
        </p:nvSpPr>
        <p:spPr>
          <a:xfrm>
            <a:off x="626400" y="764028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Flock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65"/>
          <p:cNvSpPr/>
          <p:nvPr/>
        </p:nvSpPr>
        <p:spPr>
          <a:xfrm>
            <a:off x="626400" y="8213760"/>
            <a:ext cx="434232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First launch: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2015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launches: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548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Purpose: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Earth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Observation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4207680" y="2340000"/>
            <a:ext cx="13814280" cy="7660080"/>
          </a:xfrm>
          <a:prstGeom prst="rect">
            <a:avLst/>
          </a:prstGeom>
          <a:ln w="0">
            <a:noFill/>
          </a:ln>
        </p:spPr>
      </p:pic>
      <p:sp>
        <p:nvSpPr>
          <p:cNvPr id="140" name=""/>
          <p:cNvSpPr/>
          <p:nvPr/>
        </p:nvSpPr>
        <p:spPr>
          <a:xfrm>
            <a:off x="3960000" y="4680000"/>
            <a:ext cx="787680" cy="756000"/>
          </a:xfrm>
          <a:prstGeom prst="rightArrow">
            <a:avLst>
              <a:gd name="adj1" fmla="val 50000"/>
              <a:gd name="adj2" fmla="val 26048"/>
            </a:avLst>
          </a:prstGeom>
          <a:solidFill>
            <a:srgbClr val="3e4a58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zxx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960360" y="6696360"/>
            <a:ext cx="787680" cy="756000"/>
          </a:xfrm>
          <a:prstGeom prst="rightArrow">
            <a:avLst>
              <a:gd name="adj1" fmla="val 50000"/>
              <a:gd name="adj2" fmla="val 26048"/>
            </a:avLst>
          </a:prstGeom>
          <a:solidFill>
            <a:srgbClr val="3e4a58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zxx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960360" y="8064360"/>
            <a:ext cx="787680" cy="756000"/>
          </a:xfrm>
          <a:prstGeom prst="rightArrow">
            <a:avLst>
              <a:gd name="adj1" fmla="val 50000"/>
              <a:gd name="adj2" fmla="val 26048"/>
            </a:avLst>
          </a:prstGeom>
          <a:solidFill>
            <a:srgbClr val="3e4a58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zxx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31"/>
          <p:cNvSpPr/>
          <p:nvPr/>
        </p:nvSpPr>
        <p:spPr>
          <a:xfrm>
            <a:off x="887040" y="73152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Global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Growth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35"/>
          <p:cNvSpPr/>
          <p:nvPr/>
        </p:nvSpPr>
        <p:spPr>
          <a:xfrm>
            <a:off x="914400" y="246708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1960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36"/>
          <p:cNvSpPr/>
          <p:nvPr/>
        </p:nvSpPr>
        <p:spPr>
          <a:xfrm>
            <a:off x="914400" y="3004560"/>
            <a:ext cx="38678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Countries: </a:t>
            </a:r>
            <a:r>
              <a:rPr b="1" lang="zxx" sz="2400" spc="-1" strike="noStrike">
                <a:solidFill>
                  <a:srgbClr val="d94f00"/>
                </a:solidFill>
                <a:latin typeface="Open Sauce"/>
                <a:ea typeface="Open Sauce"/>
              </a:rPr>
              <a:t>2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Satellites: 46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41"/>
          <p:cNvSpPr/>
          <p:nvPr/>
        </p:nvSpPr>
        <p:spPr>
          <a:xfrm>
            <a:off x="900000" y="435600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1980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42"/>
          <p:cNvSpPr/>
          <p:nvPr/>
        </p:nvSpPr>
        <p:spPr>
          <a:xfrm>
            <a:off x="900000" y="4893480"/>
            <a:ext cx="38678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Countries: </a:t>
            </a:r>
            <a:r>
              <a:rPr b="1" lang="zxx" sz="2400" spc="-1" strike="noStrike">
                <a:solidFill>
                  <a:srgbClr val="d94f00"/>
                </a:solidFill>
                <a:latin typeface="Open Sauce"/>
                <a:ea typeface="Open Sauce"/>
              </a:rPr>
              <a:t>17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Satellites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: 2,834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43"/>
          <p:cNvSpPr/>
          <p:nvPr/>
        </p:nvSpPr>
        <p:spPr>
          <a:xfrm>
            <a:off x="914760" y="630000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2000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Box 44"/>
          <p:cNvSpPr/>
          <p:nvPr/>
        </p:nvSpPr>
        <p:spPr>
          <a:xfrm>
            <a:off x="914760" y="6837480"/>
            <a:ext cx="38678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Countries: </a:t>
            </a:r>
            <a:r>
              <a:rPr b="1" lang="zxx" sz="2400" spc="-1" strike="noStrike">
                <a:solidFill>
                  <a:srgbClr val="d94f00"/>
                </a:solidFill>
                <a:latin typeface="Open Sauce"/>
                <a:ea typeface="Open Sauce"/>
              </a:rPr>
              <a:t>39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Satellites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: 6,026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45"/>
          <p:cNvSpPr/>
          <p:nvPr/>
        </p:nvSpPr>
        <p:spPr>
          <a:xfrm>
            <a:off x="914760" y="8280000"/>
            <a:ext cx="402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2025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46"/>
          <p:cNvSpPr/>
          <p:nvPr/>
        </p:nvSpPr>
        <p:spPr>
          <a:xfrm>
            <a:off x="914760" y="8817480"/>
            <a:ext cx="38678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Countries: </a:t>
            </a:r>
            <a:r>
              <a:rPr b="1" lang="zxx" sz="2400" spc="-1" strike="noStrike">
                <a:solidFill>
                  <a:srgbClr val="d94f00"/>
                </a:solidFill>
                <a:latin typeface="Open Sauce"/>
                <a:ea typeface="Open Sauce"/>
              </a:rPr>
              <a:t>98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Total Satellites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: 24,756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4680000" y="2340000"/>
            <a:ext cx="12700440" cy="7716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5"/>
          <p:cNvSpPr/>
          <p:nvPr/>
        </p:nvSpPr>
        <p:spPr>
          <a:xfrm>
            <a:off x="887040" y="75456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Long-lived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Litter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1224000" y="2311560"/>
            <a:ext cx="15840000" cy="769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6"/>
          <p:cNvSpPr/>
          <p:nvPr/>
        </p:nvSpPr>
        <p:spPr>
          <a:xfrm>
            <a:off x="956880" y="76716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What is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at Stake?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7"/>
          <p:cNvSpPr/>
          <p:nvPr/>
        </p:nvSpPr>
        <p:spPr>
          <a:xfrm>
            <a:off x="1460880" y="425736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A New Dark Age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1460880" y="4794840"/>
            <a:ext cx="63511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Global Communications, GPS, Internet, TV, Climate Change Monitoring and Emergency Response – </a:t>
            </a:r>
            <a:r>
              <a:rPr b="1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All Gone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16"/>
          <p:cNvSpPr/>
          <p:nvPr/>
        </p:nvSpPr>
        <p:spPr>
          <a:xfrm>
            <a:off x="9272880" y="425736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No More Missions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9272880" y="4794840"/>
            <a:ext cx="7359120" cy="12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Space exploration would 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halt for safety reasons. </a:t>
            </a:r>
            <a:br>
              <a:rPr sz="2400"/>
            </a:b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ISS, Tiangong abandoned.</a:t>
            </a:r>
            <a:br>
              <a:rPr sz="2400"/>
            </a:b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Moon and Mars missions 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canceled.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18"/>
          <p:cNvSpPr/>
          <p:nvPr/>
        </p:nvSpPr>
        <p:spPr>
          <a:xfrm>
            <a:off x="1460880" y="710136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Economic Disaster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19"/>
          <p:cNvSpPr/>
          <p:nvPr/>
        </p:nvSpPr>
        <p:spPr>
          <a:xfrm>
            <a:off x="1460880" y="7638840"/>
            <a:ext cx="689112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Space Industry is worth $400B.</a:t>
            </a:r>
            <a:br>
              <a:rPr sz="2400"/>
            </a:b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Knock on effects to all Earth industry.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20"/>
          <p:cNvSpPr/>
          <p:nvPr/>
        </p:nvSpPr>
        <p:spPr>
          <a:xfrm>
            <a:off x="9272880" y="7101720"/>
            <a:ext cx="591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Security and Defence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24"/>
          <p:cNvSpPr/>
          <p:nvPr/>
        </p:nvSpPr>
        <p:spPr>
          <a:xfrm>
            <a:off x="9272880" y="7639200"/>
            <a:ext cx="735912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Loss of surveillance, weapons detection and defence capability.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64" name=""/>
          <p:cNvGrpSpPr/>
          <p:nvPr/>
        </p:nvGrpSpPr>
        <p:grpSpPr>
          <a:xfrm>
            <a:off x="13680000" y="720000"/>
            <a:ext cx="3240000" cy="3147480"/>
            <a:chOff x="13680000" y="720000"/>
            <a:chExt cx="3240000" cy="3147480"/>
          </a:xfrm>
        </p:grpSpPr>
        <p:sp>
          <p:nvSpPr>
            <p:cNvPr id="165" name="Freeform 1"/>
            <p:cNvSpPr/>
            <p:nvPr/>
          </p:nvSpPr>
          <p:spPr>
            <a:xfrm>
              <a:off x="14061960" y="720000"/>
              <a:ext cx="2858040" cy="2483280"/>
            </a:xfrm>
            <a:custGeom>
              <a:avLst/>
              <a:gdLst>
                <a:gd name="textAreaLeft" fmla="*/ 0 w 2858040"/>
                <a:gd name="textAreaRight" fmla="*/ 2864520 w 2858040"/>
                <a:gd name="textAreaTop" fmla="*/ 0 h 2483280"/>
                <a:gd name="textAreaBottom" fmla="*/ 2489040 h 2483280"/>
              </a:gdLst>
              <a:ahLst/>
              <a:rect l="textAreaLeft" t="textAreaTop" r="textAreaRight" b="textAreaBottom"/>
              <a:pathLst>
                <a:path w="3891027" h="3891027">
                  <a:moveTo>
                    <a:pt x="0" y="0"/>
                  </a:moveTo>
                  <a:lnTo>
                    <a:pt x="3891027" y="0"/>
                  </a:lnTo>
                  <a:lnTo>
                    <a:pt x="3891027" y="3891027"/>
                  </a:lnTo>
                  <a:lnTo>
                    <a:pt x="0" y="389102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zxx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66" name="Explosion: 8 Points 1"/>
            <p:cNvSpPr/>
            <p:nvPr/>
          </p:nvSpPr>
          <p:spPr>
            <a:xfrm>
              <a:off x="13680000" y="1384200"/>
              <a:ext cx="3049560" cy="2483280"/>
            </a:xfrm>
            <a:prstGeom prst="irregularSeal1">
              <a:avLst/>
            </a:prstGeom>
            <a:solidFill>
              <a:srgbClr val="ffbd00"/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zxx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Box 6"/>
          <p:cNvSpPr/>
          <p:nvPr/>
        </p:nvSpPr>
        <p:spPr>
          <a:xfrm>
            <a:off x="956880" y="731160"/>
            <a:ext cx="14284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800"/>
              </a:lnSpc>
            </a:pPr>
            <a:r>
              <a:rPr b="1" lang="zxx" sz="9000" spc="-1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Stop it </a:t>
            </a:r>
            <a:r>
              <a:rPr b="1" lang="zxx" sz="9000" spc="-1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and Tidy up</a:t>
            </a:r>
            <a:endParaRPr b="0" lang="zxx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1"/>
          <p:cNvSpPr/>
          <p:nvPr/>
        </p:nvSpPr>
        <p:spPr>
          <a:xfrm>
            <a:off x="1460880" y="4263480"/>
            <a:ext cx="699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Active Debris Removal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27"/>
          <p:cNvSpPr/>
          <p:nvPr/>
        </p:nvSpPr>
        <p:spPr>
          <a:xfrm>
            <a:off x="1460880" y="4800960"/>
            <a:ext cx="635112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Capture and de-orbit defunct payloads.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Expensive.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48"/>
          <p:cNvSpPr/>
          <p:nvPr/>
        </p:nvSpPr>
        <p:spPr>
          <a:xfrm>
            <a:off x="9272880" y="4263480"/>
            <a:ext cx="3867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Design for De-orbit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49"/>
          <p:cNvSpPr/>
          <p:nvPr/>
        </p:nvSpPr>
        <p:spPr>
          <a:xfrm>
            <a:off x="9272880" y="4800960"/>
            <a:ext cx="735912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Satellites designed to decay and burn up.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Cheaper than recovery, but new payloads only.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50"/>
          <p:cNvSpPr/>
          <p:nvPr/>
        </p:nvSpPr>
        <p:spPr>
          <a:xfrm>
            <a:off x="1460880" y="7107480"/>
            <a:ext cx="555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Collision Avoidance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51"/>
          <p:cNvSpPr/>
          <p:nvPr/>
        </p:nvSpPr>
        <p:spPr>
          <a:xfrm>
            <a:off x="1460880" y="7644960"/>
            <a:ext cx="689112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Automated systems to monitor orbits and adjust trajectory.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52"/>
          <p:cNvSpPr/>
          <p:nvPr/>
        </p:nvSpPr>
        <p:spPr>
          <a:xfrm>
            <a:off x="9272880" y="7107840"/>
            <a:ext cx="59191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Policy and </a:t>
            </a:r>
            <a:r>
              <a:rPr b="1" lang="zxx" sz="3200" spc="-1" strike="noStrike">
                <a:solidFill>
                  <a:srgbClr val="9ad3f3"/>
                </a:solidFill>
                <a:latin typeface="Open Sauce Semi-Bold"/>
                <a:ea typeface="Open Sauce Semi-Bold"/>
              </a:rPr>
              <a:t>Agreements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53"/>
          <p:cNvSpPr/>
          <p:nvPr/>
        </p:nvSpPr>
        <p:spPr>
          <a:xfrm>
            <a:off x="9272880" y="7645320"/>
            <a:ext cx="735912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International Guidelines (UN COPUOS).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35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Voluntary and weakly enforced.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56"/>
          <p:cNvSpPr/>
          <p:nvPr/>
        </p:nvSpPr>
        <p:spPr>
          <a:xfrm>
            <a:off x="890280" y="1028880"/>
            <a:ext cx="165045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559"/>
              </a:lnSpc>
              <a:tabLst>
                <a:tab algn="l" pos="0"/>
              </a:tabLst>
            </a:pPr>
            <a:r>
              <a:rPr b="1" lang="zxx" sz="8800" spc="-369" strike="noStrike">
                <a:solidFill>
                  <a:srgbClr val="ffffff"/>
                </a:solidFill>
                <a:latin typeface="Century Gothic Paneuropean Heavy"/>
                <a:ea typeface="Century Gothic Paneuropean Heavy"/>
              </a:rPr>
              <a:t>In </a:t>
            </a:r>
            <a:r>
              <a:rPr b="1" lang="zxx" sz="8800" spc="-369" strike="noStrike">
                <a:solidFill>
                  <a:srgbClr val="ffbd00"/>
                </a:solidFill>
                <a:latin typeface="Century Gothic Paneuropean Heavy"/>
                <a:ea typeface="Century Gothic Paneuropean Heavy"/>
              </a:rPr>
              <a:t>Conclusion</a:t>
            </a:r>
            <a:endParaRPr b="0" lang="zxx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57"/>
          <p:cNvSpPr/>
          <p:nvPr/>
        </p:nvSpPr>
        <p:spPr>
          <a:xfrm>
            <a:off x="7848720" y="6591240"/>
            <a:ext cx="368388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Low Earth Orbits</a:t>
            </a:r>
            <a:br>
              <a:rPr sz="3200"/>
            </a:b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are Crowded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Freeform 4"/>
          <p:cNvSpPr/>
          <p:nvPr/>
        </p:nvSpPr>
        <p:spPr>
          <a:xfrm>
            <a:off x="8336520" y="3328560"/>
            <a:ext cx="2319480" cy="2708640"/>
          </a:xfrm>
          <a:custGeom>
            <a:avLst/>
            <a:gdLst>
              <a:gd name="textAreaLeft" fmla="*/ 0 w 2319480"/>
              <a:gd name="textAreaRight" fmla="*/ 2322360 w 2319480"/>
              <a:gd name="textAreaTop" fmla="*/ 0 h 2708640"/>
              <a:gd name="textAreaBottom" fmla="*/ 2711520 h 2708640"/>
            </a:gdLst>
            <a:ahLst/>
            <a:rect l="textAreaLeft" t="textAreaTop" r="textAreaRight" b="textAreaBottom"/>
            <a:pathLst>
              <a:path w="2322193" h="2711690">
                <a:moveTo>
                  <a:pt x="0" y="0"/>
                </a:moveTo>
                <a:lnTo>
                  <a:pt x="2322193" y="0"/>
                </a:lnTo>
                <a:lnTo>
                  <a:pt x="2322193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9" name="TextBox 58"/>
          <p:cNvSpPr/>
          <p:nvPr/>
        </p:nvSpPr>
        <p:spPr>
          <a:xfrm>
            <a:off x="12313800" y="6606000"/>
            <a:ext cx="379152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Planning for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The Future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Freeform 6"/>
          <p:cNvSpPr/>
          <p:nvPr/>
        </p:nvSpPr>
        <p:spPr>
          <a:xfrm>
            <a:off x="12557880" y="3328560"/>
            <a:ext cx="2759040" cy="2708640"/>
          </a:xfrm>
          <a:custGeom>
            <a:avLst/>
            <a:gdLst>
              <a:gd name="textAreaLeft" fmla="*/ 0 w 2759040"/>
              <a:gd name="textAreaRight" fmla="*/ 2761920 w 2759040"/>
              <a:gd name="textAreaTop" fmla="*/ 0 h 2708640"/>
              <a:gd name="textAreaBottom" fmla="*/ 2711520 h 2708640"/>
            </a:gdLst>
            <a:ahLst/>
            <a:rect l="textAreaLeft" t="textAreaTop" r="textAreaRight" b="textAreaBottom"/>
            <a:pathLst>
              <a:path w="2761907" h="2711690">
                <a:moveTo>
                  <a:pt x="0" y="0"/>
                </a:moveTo>
                <a:lnTo>
                  <a:pt x="2761906" y="0"/>
                </a:lnTo>
                <a:lnTo>
                  <a:pt x="2761906" y="2711690"/>
                </a:lnTo>
                <a:lnTo>
                  <a:pt x="0" y="27116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1" name="Freeform 7"/>
          <p:cNvSpPr/>
          <p:nvPr/>
        </p:nvSpPr>
        <p:spPr>
          <a:xfrm>
            <a:off x="3010680" y="3444120"/>
            <a:ext cx="2915280" cy="2915280"/>
          </a:xfrm>
          <a:custGeom>
            <a:avLst/>
            <a:gdLst>
              <a:gd name="textAreaLeft" fmla="*/ 0 w 2915280"/>
              <a:gd name="textAreaRight" fmla="*/ 2918160 w 2915280"/>
              <a:gd name="textAreaTop" fmla="*/ 0 h 2915280"/>
              <a:gd name="textAreaBottom" fmla="*/ 2918160 h 291528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2" name="TextBox 59"/>
          <p:cNvSpPr/>
          <p:nvPr/>
        </p:nvSpPr>
        <p:spPr>
          <a:xfrm>
            <a:off x="2096280" y="6629400"/>
            <a:ext cx="486792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Devastating Kessler Cascade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60"/>
          <p:cNvSpPr/>
          <p:nvPr/>
        </p:nvSpPr>
        <p:spPr>
          <a:xfrm>
            <a:off x="7849080" y="7778880"/>
            <a:ext cx="368388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Arial"/>
                <a:ea typeface="Open Sauce"/>
              </a:rPr>
              <a:t>There is a lot of hardware in space, and we are adding to it at </a:t>
            </a:r>
            <a:br>
              <a:rPr sz="2400"/>
            </a:br>
            <a:r>
              <a:rPr b="0" lang="zxx" sz="2400" spc="-1" strike="noStrike">
                <a:solidFill>
                  <a:srgbClr val="ffffff"/>
                </a:solidFill>
                <a:latin typeface="Arial"/>
                <a:ea typeface="Open Sauce"/>
              </a:rPr>
              <a:t>a record pace.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61"/>
          <p:cNvSpPr/>
          <p:nvPr/>
        </p:nvSpPr>
        <p:spPr>
          <a:xfrm>
            <a:off x="12497040" y="7778880"/>
            <a:ext cx="330336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Without coordinated 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efforts, we will reach a 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tipping point within </a:t>
            </a: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decades, maybe years.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62"/>
          <p:cNvSpPr/>
          <p:nvPr/>
        </p:nvSpPr>
        <p:spPr>
          <a:xfrm>
            <a:off x="2851560" y="7814880"/>
            <a:ext cx="3303360" cy="17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A new dark age: 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359"/>
              </a:lnSpc>
              <a:tabLst>
                <a:tab algn="l" pos="0"/>
              </a:tabLst>
            </a:pPr>
            <a:r>
              <a:rPr b="0" lang="zxx" sz="2400" spc="-1" strike="noStrike">
                <a:solidFill>
                  <a:srgbClr val="ffffff"/>
                </a:solidFill>
                <a:latin typeface="Open Sauce"/>
                <a:ea typeface="Open Sauce"/>
              </a:rPr>
              <a:t>loss of navigation, communications and more.</a:t>
            </a:r>
            <a:endParaRPr b="0" lang="zxx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Freeform 11"/>
          <p:cNvSpPr/>
          <p:nvPr/>
        </p:nvSpPr>
        <p:spPr>
          <a:xfrm>
            <a:off x="3060000" y="3960000"/>
            <a:ext cx="2915280" cy="2915280"/>
          </a:xfrm>
          <a:custGeom>
            <a:avLst/>
            <a:gdLst>
              <a:gd name="textAreaLeft" fmla="*/ 0 w 2915280"/>
              <a:gd name="textAreaRight" fmla="*/ 2918160 w 2915280"/>
              <a:gd name="textAreaTop" fmla="*/ 0 h 2915280"/>
              <a:gd name="textAreaBottom" fmla="*/ 2918160 h 2915280"/>
            </a:gdLst>
            <a:ahLst/>
            <a:rect l="textAreaLeft" t="textAreaTop" r="textAreaRight" b="textAreaBottom"/>
            <a:pathLst>
              <a:path w="3891027" h="3891027">
                <a:moveTo>
                  <a:pt x="0" y="0"/>
                </a:moveTo>
                <a:lnTo>
                  <a:pt x="3891027" y="0"/>
                </a:lnTo>
                <a:lnTo>
                  <a:pt x="3891027" y="3891027"/>
                </a:lnTo>
                <a:lnTo>
                  <a:pt x="0" y="38910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zxx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7" name="TextBox 13"/>
          <p:cNvSpPr/>
          <p:nvPr/>
        </p:nvSpPr>
        <p:spPr>
          <a:xfrm>
            <a:off x="4680000" y="4680000"/>
            <a:ext cx="10080000" cy="97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More </a:t>
            </a:r>
            <a:r>
              <a:rPr b="1" lang="zxx" sz="3200" spc="-1" strike="noStrike">
                <a:solidFill>
                  <a:srgbClr val="ffbd00"/>
                </a:solidFill>
                <a:latin typeface="Open Sauce Semi-Bold"/>
                <a:ea typeface="Open Sauce Semi-Bold"/>
              </a:rPr>
              <a:t>Information: 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841"/>
              </a:lnSpc>
              <a:tabLst>
                <a:tab algn="l" pos="0"/>
              </a:tabLst>
            </a:pPr>
            <a:r>
              <a:rPr b="0" lang="zxx" sz="3200" spc="-1" strike="noStrike">
                <a:solidFill>
                  <a:srgbClr val="ffffff"/>
                </a:solidFill>
                <a:latin typeface="Open Sauce Semi-Bold"/>
                <a:ea typeface="Open Sauce Semi-Bold"/>
              </a:rPr>
              <a:t>https://</a:t>
            </a:r>
            <a:r>
              <a:rPr b="0" lang="zxx" sz="3200" spc="-1" strike="noStrike">
                <a:solidFill>
                  <a:srgbClr val="ffffff"/>
                </a:solidFill>
                <a:latin typeface="Open Sauce Semi-Bold"/>
                <a:ea typeface="Open Sauce Semi-Bold"/>
              </a:rPr>
              <a:t>orbital.daemonc</a:t>
            </a:r>
            <a:r>
              <a:rPr b="0" lang="zxx" sz="3200" spc="-1" strike="noStrike">
                <a:solidFill>
                  <a:srgbClr val="ffffff"/>
                </a:solidFill>
                <a:latin typeface="Open Sauce Semi-Bold"/>
                <a:ea typeface="Open Sauce Semi-Bold"/>
              </a:rPr>
              <a:t>hild.com</a:t>
            </a:r>
            <a:endParaRPr b="0" lang="zxx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1913</TotalTime>
  <Application>LibreOffice/24.2.7.2$Linux_X86_64 LibreOffice_project/420$Build-2</Application>
  <AppVersion>15.0000</AppVersion>
  <Words>740</Words>
  <Paragraphs>121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DAG3TWXvXT0</dc:identifier>
  <dc:language>en-US</dc:language>
  <cp:lastModifiedBy/>
  <dcterms:modified xsi:type="dcterms:W3CDTF">2025-12-05T11:51:08Z</dcterms:modified>
  <cp:revision>30</cp:revision>
  <dc:subject/>
  <dc:title>From Launch to Litter: Orbital Overload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16</vt:i4>
  </property>
</Properties>
</file>