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_rels/presentation.xml.rels" ContentType="application/vnd.openxmlformats-package.relationships+xml"/>
  <Override PartName="/ppt/media/image12.png" ContentType="image/png"/>
  <Override PartName="/ppt/media/image3.png" ContentType="image/png"/>
  <Override PartName="/ppt/media/image8.svg" ContentType="image/svg"/>
  <Override PartName="/ppt/media/image13.png" ContentType="image/png"/>
  <Override PartName="/ppt/media/image9.png" ContentType="image/png"/>
  <Override PartName="/ppt/media/image18.png" ContentType="image/png"/>
  <Override PartName="/ppt/media/image20.png" ContentType="image/png"/>
  <Override PartName="/ppt/media/image6.svg" ContentType="image/svg"/>
  <Override PartName="/ppt/media/image22.png" ContentType="image/png"/>
  <Override PartName="/ppt/media/image1.jpeg" ContentType="image/jpeg"/>
  <Override PartName="/ppt/media/image10.png" ContentType="image/png"/>
  <Override PartName="/ppt/media/image21.png" ContentType="image/png"/>
  <Override PartName="/ppt/media/image19.png" ContentType="image/png"/>
  <Override PartName="/ppt/media/image17.png" ContentType="image/png"/>
  <Override PartName="/ppt/media/image15.png" ContentType="image/png"/>
  <Override PartName="/ppt/media/image4.svg" ContentType="image/svg"/>
  <Override PartName="/ppt/media/image2.png" ContentType="image/png"/>
  <Override PartName="/ppt/media/image11.png" ContentType="image/png"/>
  <Override PartName="/ppt/media/image7.png" ContentType="image/png"/>
  <Override PartName="/ppt/media/image16.png" ContentType="image/png"/>
  <Override PartName="/ppt/media/image5.png" ContentType="image/png"/>
  <Override PartName="/ppt/media/image14.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D1224DEE-CDF2-456D-9792-3FB817BB5D36}"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AC5C8DAA-3B55-43E4-9847-739F8B9F45E3}"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718B47FE-5FB9-4E58-83B6-8F17C792290D}"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2A109C99-77F6-4756-B1EE-965F2B7BDD68}"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C3C0760C-16BB-445F-9170-C46F94AD39D2}"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9D316539-DE08-4EA0-9408-590DEAD961EA}"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6B2C5E16-9535-4FE6-BB0E-437A73A93702}"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F0BC09E8-F6C4-4027-BD13-3D275A27416B}"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681CF22B-C940-4009-BD56-E57DCB2223AB}"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FE4A7883-7C6F-4DDD-B850-78B5894FD888}"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237FA80C-D385-446B-8882-7CE069587A19}"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a:t>
            </a:r>
            <a:r>
              <a:rPr b="0" lang="en-US" sz="4400" spc="-1" strike="noStrike">
                <a:solidFill>
                  <a:schemeClr val="dk1"/>
                </a:solidFill>
                <a:latin typeface="Calibri"/>
              </a:rPr>
              <a:t>the title text </a:t>
            </a:r>
            <a:r>
              <a:rPr b="0" lang="en-US" sz="4400" spc="-1" strike="noStrike">
                <a:solidFill>
                  <a:schemeClr val="dk1"/>
                </a:solidFill>
                <a:latin typeface="Calibri"/>
              </a:rPr>
              <a:t>format</a:t>
            </a:r>
            <a:endParaRPr b="0" lang="en-US" sz="4400" spc="-1" strike="noStrike">
              <a:solidFill>
                <a:schemeClr val="dk1"/>
              </a:solidFill>
              <a:latin typeface="Calibri"/>
            </a:endParaRPr>
          </a:p>
        </p:txBody>
      </p:sp>
      <p:sp>
        <p:nvSpPr>
          <p:cNvPr id="1" name="PlaceHolder 2"/>
          <p:cNvSpPr>
            <a:spLocks noGrp="1"/>
          </p:cNvSpPr>
          <p:nvPr>
            <p:ph type="ftr" idx="1"/>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542CE35-741E-4A51-A637-F6378AE6089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0CF1C22C-BD45-4DDE-B2F1-F5246A3CCE6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DEC9A46-D252-4376-B749-F4ABB24DBFE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14" name="PlaceHolder 3"/>
          <p:cNvSpPr>
            <a:spLocks noGrp="1"/>
          </p:cNvSpPr>
          <p:nvPr>
            <p:ph type="ftr" idx="10"/>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C65DCC89-FE73-42B9-B841-CE08330AE36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73B288B-ACDC-4385-8569-F57BF2E67FF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25" name="PlaceHolder 4"/>
          <p:cNvSpPr>
            <a:spLocks noGrp="1"/>
          </p:cNvSpPr>
          <p:nvPr>
            <p:ph type="ftr" idx="16"/>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252F41F-3DE5-4394-BE3F-3DFF93B7503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26A3994-DF09-44DB-B203-9D287CB1F65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35" name="PlaceHolder 2"/>
          <p:cNvSpPr>
            <a:spLocks noGrp="1"/>
          </p:cNvSpPr>
          <p:nvPr>
            <p:ph type="ftr" idx="22"/>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FDDFB825-8287-4906-9A72-AD2B70E81C3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93B7ECA-E497-4863-AC61-9888C6AE99C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6808DC4-307D-43B7-B416-3A0704833C9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04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6BC15E8-31DA-49F1-9967-25B8C4F2DFB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7.png"/><Relationship Id="rId10" Type="http://schemas.openxmlformats.org/officeDocument/2006/relationships/image" Target="../media/image8.svg"/><Relationship Id="rId11" Type="http://schemas.openxmlformats.org/officeDocument/2006/relationships/image" Target="../media/image7.png"/><Relationship Id="rId12" Type="http://schemas.openxmlformats.org/officeDocument/2006/relationships/image" Target="../media/image8.svg"/><Relationship Id="rId13" Type="http://schemas.openxmlformats.org/officeDocument/2006/relationships/image" Target="../media/image7.png"/><Relationship Id="rId14" Type="http://schemas.openxmlformats.org/officeDocument/2006/relationships/image" Target="../media/image8.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50" name="Group 2"/>
          <p:cNvGrpSpPr/>
          <p:nvPr/>
        </p:nvGrpSpPr>
        <p:grpSpPr>
          <a:xfrm>
            <a:off x="0" y="0"/>
            <a:ext cx="18286560" cy="10285560"/>
            <a:chOff x="0" y="0"/>
            <a:chExt cx="18286560" cy="10285560"/>
          </a:xfrm>
        </p:grpSpPr>
        <p:sp>
          <p:nvSpPr>
            <p:cNvPr id="51" name="Freeform 3"/>
            <p:cNvSpPr/>
            <p:nvPr/>
          </p:nvSpPr>
          <p:spPr>
            <a:xfrm>
              <a:off x="0" y="0"/>
              <a:ext cx="18286560" cy="10285560"/>
            </a:xfrm>
            <a:custGeom>
              <a:avLst/>
              <a:gdLst>
                <a:gd name="textAreaLeft" fmla="*/ 0 w 18286560"/>
                <a:gd name="textAreaRight" fmla="*/ 18288000 w 18286560"/>
                <a:gd name="textAreaTop" fmla="*/ 0 h 10285560"/>
                <a:gd name="textAreaBottom" fmla="*/ 10287000 h 10285560"/>
              </a:gdLst>
              <a:ah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52" name="Group 4"/>
            <p:cNvGrpSpPr/>
            <p:nvPr/>
          </p:nvGrpSpPr>
          <p:grpSpPr>
            <a:xfrm>
              <a:off x="13716000" y="1589760"/>
              <a:ext cx="1332000" cy="1848960"/>
              <a:chOff x="13716000" y="1589760"/>
              <a:chExt cx="1332000" cy="1848960"/>
            </a:xfrm>
          </p:grpSpPr>
          <p:sp>
            <p:nvSpPr>
              <p:cNvPr id="53" name="Freeform 5"/>
              <p:cNvSpPr/>
              <p:nvPr/>
            </p:nvSpPr>
            <p:spPr>
              <a:xfrm>
                <a:off x="13716000" y="1770480"/>
                <a:ext cx="1332000" cy="1668240"/>
              </a:xfrm>
              <a:custGeom>
                <a:avLst/>
                <a:gdLst>
                  <a:gd name="textAreaLeft" fmla="*/ 0 w 1332000"/>
                  <a:gd name="textAreaRight" fmla="*/ 1333440 w 1332000"/>
                  <a:gd name="textAreaTop" fmla="*/ 0 h 1668240"/>
                  <a:gd name="textAreaBottom" fmla="*/ 1669680 h 1668240"/>
                </a:gdLst>
                <a:ah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4" name="TextBox 6"/>
              <p:cNvSpPr/>
              <p:nvPr/>
            </p:nvSpPr>
            <p:spPr>
              <a:xfrm>
                <a:off x="13716000" y="1589760"/>
                <a:ext cx="1332000" cy="18489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pPr>
                <a:endParaRPr b="0" lang="en-US" sz="1800" spc="-1" strike="noStrike">
                  <a:solidFill>
                    <a:schemeClr val="dk1"/>
                  </a:solidFill>
                  <a:latin typeface="Calibri"/>
                </a:endParaRPr>
              </a:p>
            </p:txBody>
          </p:sp>
        </p:grpSp>
      </p:grpSp>
      <p:sp>
        <p:nvSpPr>
          <p:cNvPr id="55" name="TextBox 7"/>
          <p:cNvSpPr/>
          <p:nvPr/>
        </p:nvSpPr>
        <p:spPr>
          <a:xfrm>
            <a:off x="4486320" y="593640"/>
            <a:ext cx="9313920" cy="54860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pPr>
            <a:r>
              <a:rPr b="1" lang="en-US" sz="9000" spc="-1" strike="noStrike">
                <a:solidFill>
                  <a:srgbClr val="ffffff"/>
                </a:solidFill>
                <a:latin typeface="Century Gothic Paneuropean Heavy"/>
                <a:ea typeface="Century Gothic Paneuropean Heavy"/>
              </a:rPr>
              <a:t>From Launch </a:t>
            </a:r>
            <a:endParaRPr b="0" lang="en-US" sz="9000" spc="-1" strike="noStrike">
              <a:solidFill>
                <a:srgbClr val="ffffff"/>
              </a:solidFill>
              <a:latin typeface="Arial"/>
            </a:endParaRPr>
          </a:p>
          <a:p>
            <a:pPr algn="ctr" defTabSz="914400">
              <a:lnSpc>
                <a:spcPts val="10800"/>
              </a:lnSpc>
            </a:pPr>
            <a:r>
              <a:rPr b="1" lang="en-US" sz="9000" spc="-1" strike="noStrike">
                <a:solidFill>
                  <a:srgbClr val="ffffff"/>
                </a:solidFill>
                <a:latin typeface="Century Gothic Paneuropean Heavy"/>
                <a:ea typeface="Century Gothic Paneuropean Heavy"/>
              </a:rPr>
              <a:t>to Litter:</a:t>
            </a:r>
            <a:endParaRPr b="0" lang="en-US" sz="9000" spc="-1" strike="noStrike">
              <a:solidFill>
                <a:srgbClr val="ffffff"/>
              </a:solidFill>
              <a:latin typeface="Arial"/>
            </a:endParaRPr>
          </a:p>
          <a:p>
            <a:pPr algn="ctr" defTabSz="914400">
              <a:lnSpc>
                <a:spcPts val="10800"/>
              </a:lnSpc>
            </a:pPr>
            <a:r>
              <a:rPr b="1" lang="en-US" sz="9000" spc="-1" strike="noStrike">
                <a:solidFill>
                  <a:srgbClr val="ffbd00"/>
                </a:solidFill>
                <a:latin typeface="Century Gothic Paneuropean Heavy"/>
                <a:ea typeface="Century Gothic Paneuropean Heavy"/>
              </a:rPr>
              <a:t>Orbital Overload </a:t>
            </a:r>
            <a:endParaRPr b="0" lang="en-US" sz="9000" spc="-1" strike="noStrike">
              <a:solidFill>
                <a:srgbClr val="ffffff"/>
              </a:solidFill>
              <a:latin typeface="Arial"/>
            </a:endParaRPr>
          </a:p>
        </p:txBody>
      </p:sp>
      <p:sp>
        <p:nvSpPr>
          <p:cNvPr id="56" name="Freeform 8"/>
          <p:cNvSpPr/>
          <p:nvPr/>
        </p:nvSpPr>
        <p:spPr>
          <a:xfrm>
            <a:off x="8751960" y="4398840"/>
            <a:ext cx="10917000" cy="4611600"/>
          </a:xfrm>
          <a:custGeom>
            <a:avLst/>
            <a:gdLst>
              <a:gd name="textAreaLeft" fmla="*/ 0 w 10917000"/>
              <a:gd name="textAreaRight" fmla="*/ 10918440 w 10917000"/>
              <a:gd name="textAreaTop" fmla="*/ 0 h 4611600"/>
              <a:gd name="textAreaBottom" fmla="*/ 4613040 h 4611600"/>
            </a:gdLst>
            <a:ah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7" name="TextBox 9"/>
          <p:cNvSpPr/>
          <p:nvPr/>
        </p:nvSpPr>
        <p:spPr>
          <a:xfrm>
            <a:off x="15163920" y="9487080"/>
            <a:ext cx="3122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9ad3f3"/>
                </a:solidFill>
                <a:latin typeface="Century Gothic Paneuropean Heavy"/>
              </a:rPr>
              <a:t>Tom Rowan, ST20285213</a:t>
            </a:r>
            <a:endParaRPr b="0" lang="en-US" sz="1800" spc="-1" strike="noStrike">
              <a:solidFill>
                <a:srgbClr val="ffffff"/>
              </a:solidFill>
              <a:latin typeface="Arial"/>
            </a:endParaRPr>
          </a:p>
          <a:p>
            <a:pPr defTabSz="914400">
              <a:lnSpc>
                <a:spcPct val="100000"/>
              </a:lnSpc>
            </a:pPr>
            <a:r>
              <a:rPr b="1" lang="en-US" sz="1800" spc="-1" strike="noStrike">
                <a:solidFill>
                  <a:srgbClr val="9ad3f3"/>
                </a:solidFill>
                <a:latin typeface="Century Gothic Paneuropean Heavy"/>
              </a:rPr>
              <a:t>DAT5001_S2_25 PRES1</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58" name="TextBox 2"/>
          <p:cNvSpPr/>
          <p:nvPr/>
        </p:nvSpPr>
        <p:spPr>
          <a:xfrm>
            <a:off x="890280" y="1028880"/>
            <a:ext cx="1650600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Table Of </a:t>
            </a:r>
            <a:r>
              <a:rPr b="1" lang="en-US" sz="8800" spc="-369" strike="noStrike">
                <a:solidFill>
                  <a:srgbClr val="ffbd00"/>
                </a:solidFill>
                <a:latin typeface="Century Gothic Paneuropean Heavy"/>
                <a:ea typeface="Century Gothic Paneuropean Heavy"/>
              </a:rPr>
              <a:t>Contents</a:t>
            </a:r>
            <a:endParaRPr b="0" lang="en-US" sz="8800" spc="-1" strike="noStrike">
              <a:solidFill>
                <a:srgbClr val="ffffff"/>
              </a:solidFill>
              <a:latin typeface="Arial"/>
            </a:endParaRPr>
          </a:p>
        </p:txBody>
      </p:sp>
      <p:sp>
        <p:nvSpPr>
          <p:cNvPr id="59" name="TextBox 3"/>
          <p:cNvSpPr/>
          <p:nvPr/>
        </p:nvSpPr>
        <p:spPr>
          <a:xfrm>
            <a:off x="7848720" y="7772400"/>
            <a:ext cx="3685320" cy="42660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Arial"/>
                <a:ea typeface="Open Sauce"/>
              </a:rPr>
              <a:t>Looking at what’s in orbit. </a:t>
            </a:r>
            <a:endParaRPr b="0" lang="en-US" sz="2400" spc="-1" strike="noStrike">
              <a:solidFill>
                <a:srgbClr val="ffffff"/>
              </a:solidFill>
              <a:latin typeface="Arial"/>
            </a:endParaRPr>
          </a:p>
        </p:txBody>
      </p:sp>
      <p:sp>
        <p:nvSpPr>
          <p:cNvPr id="60" name="TextBox 4"/>
          <p:cNvSpPr/>
          <p:nvPr/>
        </p:nvSpPr>
        <p:spPr>
          <a:xfrm>
            <a:off x="7848720" y="6591240"/>
            <a:ext cx="368532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Exploring </a:t>
            </a:r>
            <a:br>
              <a:rPr sz="3200"/>
            </a:br>
            <a:r>
              <a:rPr b="1" lang="en-US" sz="3200" spc="-1" strike="noStrike">
                <a:solidFill>
                  <a:srgbClr val="ffbd00"/>
                </a:solidFill>
                <a:latin typeface="Open Sauce Semi-Bold"/>
                <a:ea typeface="Open Sauce Semi-Bold"/>
              </a:rPr>
              <a:t>the Data</a:t>
            </a:r>
            <a:endParaRPr b="0" lang="en-US" sz="3200" spc="-1" strike="noStrike">
              <a:solidFill>
                <a:srgbClr val="ffffff"/>
              </a:solidFill>
              <a:latin typeface="Arial"/>
            </a:endParaRPr>
          </a:p>
        </p:txBody>
      </p:sp>
      <p:sp>
        <p:nvSpPr>
          <p:cNvPr id="61" name="Freeform 5"/>
          <p:cNvSpPr/>
          <p:nvPr/>
        </p:nvSpPr>
        <p:spPr>
          <a:xfrm>
            <a:off x="8336520" y="3328560"/>
            <a:ext cx="2320920" cy="2710080"/>
          </a:xfrm>
          <a:custGeom>
            <a:avLst/>
            <a:gdLst>
              <a:gd name="textAreaLeft" fmla="*/ 0 w 2320920"/>
              <a:gd name="textAreaRight" fmla="*/ 2322360 w 2320920"/>
              <a:gd name="textAreaTop" fmla="*/ 0 h 2710080"/>
              <a:gd name="textAreaBottom" fmla="*/ 2711520 h 2710080"/>
            </a:gdLst>
            <a:ah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2" name="TextBox 6"/>
          <p:cNvSpPr/>
          <p:nvPr/>
        </p:nvSpPr>
        <p:spPr>
          <a:xfrm>
            <a:off x="12313800" y="6606000"/>
            <a:ext cx="379296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Planning for</a:t>
            </a:r>
            <a:endParaRPr b="0" lang="en-US" sz="3200" spc="-1" strike="noStrike">
              <a:solidFill>
                <a:srgbClr val="ffffff"/>
              </a:solidFill>
              <a:latin typeface="Arial"/>
            </a:endParaRPr>
          </a:p>
          <a:p>
            <a:pPr algn="ctr" defTabSz="914400">
              <a:lnSpc>
                <a:spcPts val="3841"/>
              </a:lnSpc>
              <a:tabLst>
                <a:tab algn="l" pos="0"/>
              </a:tabLst>
            </a:pPr>
            <a:r>
              <a:rPr b="1" lang="en-US" sz="3200" spc="-1" strike="noStrike">
                <a:solidFill>
                  <a:srgbClr val="ffbd00"/>
                </a:solidFill>
                <a:latin typeface="Open Sauce Semi-Bold"/>
                <a:ea typeface="Open Sauce Semi-Bold"/>
              </a:rPr>
              <a:t>The Future</a:t>
            </a:r>
            <a:endParaRPr b="0" lang="en-US" sz="3200" spc="-1" strike="noStrike">
              <a:solidFill>
                <a:srgbClr val="ffffff"/>
              </a:solidFill>
              <a:latin typeface="Arial"/>
            </a:endParaRPr>
          </a:p>
        </p:txBody>
      </p:sp>
      <p:sp>
        <p:nvSpPr>
          <p:cNvPr id="63" name="TextBox 7"/>
          <p:cNvSpPr/>
          <p:nvPr/>
        </p:nvSpPr>
        <p:spPr>
          <a:xfrm>
            <a:off x="12496680" y="7772400"/>
            <a:ext cx="330480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How can we avoid a disaster?</a:t>
            </a:r>
            <a:endParaRPr b="0" lang="en-US" sz="2400" spc="-1" strike="noStrike">
              <a:solidFill>
                <a:srgbClr val="ffffff"/>
              </a:solidFill>
              <a:latin typeface="Arial"/>
            </a:endParaRPr>
          </a:p>
        </p:txBody>
      </p:sp>
      <p:sp>
        <p:nvSpPr>
          <p:cNvPr id="64" name="Freeform 8"/>
          <p:cNvSpPr/>
          <p:nvPr/>
        </p:nvSpPr>
        <p:spPr>
          <a:xfrm>
            <a:off x="12557880" y="3328560"/>
            <a:ext cx="2760480" cy="2710080"/>
          </a:xfrm>
          <a:custGeom>
            <a:avLst/>
            <a:gdLst>
              <a:gd name="textAreaLeft" fmla="*/ 0 w 2760480"/>
              <a:gd name="textAreaRight" fmla="*/ 2761920 w 2760480"/>
              <a:gd name="textAreaTop" fmla="*/ 0 h 2710080"/>
              <a:gd name="textAreaBottom" fmla="*/ 2711520 h 2710080"/>
            </a:gdLst>
            <a:ah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5" name="Freeform 10"/>
          <p:cNvSpPr/>
          <p:nvPr/>
        </p:nvSpPr>
        <p:spPr>
          <a:xfrm>
            <a:off x="2902680" y="3444120"/>
            <a:ext cx="2916720" cy="2916720"/>
          </a:xfrm>
          <a:custGeom>
            <a:avLst/>
            <a:gdLst>
              <a:gd name="textAreaLeft" fmla="*/ 0 w 2916720"/>
              <a:gd name="textAreaRight" fmla="*/ 2918160 w 2916720"/>
              <a:gd name="textAreaTop" fmla="*/ 0 h 2916720"/>
              <a:gd name="textAreaBottom" fmla="*/ 2918160 h 291672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6" name="TextBox 11"/>
          <p:cNvSpPr/>
          <p:nvPr/>
        </p:nvSpPr>
        <p:spPr>
          <a:xfrm>
            <a:off x="1988280" y="6629400"/>
            <a:ext cx="4869360" cy="97560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What is the Kessler Syndrome?</a:t>
            </a:r>
            <a:endParaRPr b="0" lang="en-US" sz="3200" spc="-1" strike="noStrike">
              <a:solidFill>
                <a:srgbClr val="ffffff"/>
              </a:solidFill>
              <a:latin typeface="Arial"/>
            </a:endParaRPr>
          </a:p>
        </p:txBody>
      </p:sp>
      <p:sp>
        <p:nvSpPr>
          <p:cNvPr id="67" name="TextBox 12"/>
          <p:cNvSpPr/>
          <p:nvPr/>
        </p:nvSpPr>
        <p:spPr>
          <a:xfrm>
            <a:off x="2743200" y="7772400"/>
            <a:ext cx="3304800" cy="85320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And its potential impact on civilization.</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68" name="Freeform 10"/>
          <p:cNvSpPr/>
          <p:nvPr/>
        </p:nvSpPr>
        <p:spPr>
          <a:xfrm>
            <a:off x="12801600" y="651528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9" name="Freeform 10"/>
          <p:cNvSpPr/>
          <p:nvPr/>
        </p:nvSpPr>
        <p:spPr>
          <a:xfrm>
            <a:off x="12801600" y="430524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70" name="Group 53"/>
          <p:cNvGrpSpPr/>
          <p:nvPr/>
        </p:nvGrpSpPr>
        <p:grpSpPr>
          <a:xfrm>
            <a:off x="12649320" y="4610160"/>
            <a:ext cx="1217880" cy="3351240"/>
            <a:chOff x="12649320" y="4610160"/>
            <a:chExt cx="1217880" cy="3351240"/>
          </a:xfrm>
        </p:grpSpPr>
        <p:sp>
          <p:nvSpPr>
            <p:cNvPr id="71" name="Explosion: 8 Points 36"/>
            <p:cNvSpPr/>
            <p:nvPr/>
          </p:nvSpPr>
          <p:spPr>
            <a:xfrm>
              <a:off x="12649320" y="681984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72" name="Explosion: 8 Points 34"/>
            <p:cNvSpPr/>
            <p:nvPr/>
          </p:nvSpPr>
          <p:spPr>
            <a:xfrm>
              <a:off x="12649320" y="461016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
        <p:nvSpPr>
          <p:cNvPr id="73" name="TextBox 2"/>
          <p:cNvSpPr/>
          <p:nvPr/>
        </p:nvSpPr>
        <p:spPr>
          <a:xfrm>
            <a:off x="887040" y="731520"/>
            <a:ext cx="1650600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What is the </a:t>
            </a:r>
            <a:r>
              <a:rPr b="1" lang="en-US" sz="8800" spc="-369" strike="noStrike">
                <a:solidFill>
                  <a:srgbClr val="ffbd00"/>
                </a:solidFill>
                <a:latin typeface="Century Gothic Paneuropean Heavy"/>
                <a:ea typeface="Century Gothic Paneuropean Heavy"/>
              </a:rPr>
              <a:t>Kessler Syndrome?</a:t>
            </a:r>
            <a:endParaRPr b="0" lang="en-US" sz="8800" spc="-1" strike="noStrike">
              <a:solidFill>
                <a:srgbClr val="ffffff"/>
              </a:solidFill>
              <a:latin typeface="Arial"/>
            </a:endParaRPr>
          </a:p>
        </p:txBody>
      </p:sp>
      <p:sp>
        <p:nvSpPr>
          <p:cNvPr id="74" name="Freeform 10"/>
          <p:cNvSpPr/>
          <p:nvPr/>
        </p:nvSpPr>
        <p:spPr>
          <a:xfrm>
            <a:off x="10515600" y="529596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75" name="TextBox 7"/>
          <p:cNvSpPr/>
          <p:nvPr/>
        </p:nvSpPr>
        <p:spPr>
          <a:xfrm>
            <a:off x="1143000" y="354348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Collision Cascade</a:t>
            </a:r>
            <a:endParaRPr b="0" lang="en-US" sz="3200" spc="-1" strike="noStrike">
              <a:solidFill>
                <a:srgbClr val="ffffff"/>
              </a:solidFill>
              <a:latin typeface="Arial"/>
            </a:endParaRPr>
          </a:p>
        </p:txBody>
      </p:sp>
      <p:sp>
        <p:nvSpPr>
          <p:cNvPr id="76" name="TextBox 11"/>
          <p:cNvSpPr/>
          <p:nvPr/>
        </p:nvSpPr>
        <p:spPr>
          <a:xfrm>
            <a:off x="1143000" y="4305240"/>
            <a:ext cx="586584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A scenario where satellite and/or space debris collisions cause a cascade effect, making low Earth orbit unusable.</a:t>
            </a:r>
            <a:endParaRPr b="0" lang="en-US" sz="2400" spc="-1" strike="noStrike">
              <a:solidFill>
                <a:srgbClr val="ffffff"/>
              </a:solidFill>
              <a:latin typeface="Arial"/>
            </a:endParaRPr>
          </a:p>
        </p:txBody>
      </p:sp>
      <p:sp>
        <p:nvSpPr>
          <p:cNvPr id="77" name="TextBox 7"/>
          <p:cNvSpPr/>
          <p:nvPr/>
        </p:nvSpPr>
        <p:spPr>
          <a:xfrm>
            <a:off x="1143000" y="674388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Disaster Scenario</a:t>
            </a:r>
            <a:endParaRPr b="0" lang="en-US" sz="3200" spc="-1" strike="noStrike">
              <a:solidFill>
                <a:srgbClr val="ffffff"/>
              </a:solidFill>
              <a:latin typeface="Arial"/>
            </a:endParaRPr>
          </a:p>
        </p:txBody>
      </p:sp>
      <p:sp>
        <p:nvSpPr>
          <p:cNvPr id="78" name="TextBox 11"/>
          <p:cNvSpPr/>
          <p:nvPr/>
        </p:nvSpPr>
        <p:spPr>
          <a:xfrm>
            <a:off x="1143000" y="7505640"/>
            <a:ext cx="60944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identified in 1978 by Donald J. Kessler and Burton G. Cour-Palais. </a:t>
            </a:r>
            <a:endParaRPr b="0" lang="en-US" sz="2400" spc="-1" strike="noStrike">
              <a:solidFill>
                <a:srgbClr val="ffffff"/>
              </a:solidFill>
              <a:latin typeface="Arial"/>
            </a:endParaRPr>
          </a:p>
        </p:txBody>
      </p:sp>
      <p:sp>
        <p:nvSpPr>
          <p:cNvPr id="79" name="Explosion: 8 Points 21"/>
          <p:cNvSpPr/>
          <p:nvPr/>
        </p:nvSpPr>
        <p:spPr>
          <a:xfrm>
            <a:off x="10363320" y="560088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0" name="Freeform 10"/>
          <p:cNvSpPr/>
          <p:nvPr/>
        </p:nvSpPr>
        <p:spPr>
          <a:xfrm>
            <a:off x="7924680" y="529596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1" name="Arrow: Right 24"/>
          <p:cNvSpPr/>
          <p:nvPr/>
        </p:nvSpPr>
        <p:spPr>
          <a:xfrm>
            <a:off x="9220320" y="5524560"/>
            <a:ext cx="1065240" cy="6843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2" name="Freeform 10"/>
          <p:cNvSpPr/>
          <p:nvPr/>
        </p:nvSpPr>
        <p:spPr>
          <a:xfrm>
            <a:off x="15468480" y="461016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9">
              <a:extLst>
                <a:ext uri="{96DAC541-7B7A-43D3-8B79-37D633B846F1}">
                  <asvg:svgBlip xmlns:asvg="http://schemas.microsoft.com/office/drawing/2016/SVG/main" r:embed="rId10"/>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3" name="Freeform 10"/>
          <p:cNvSpPr/>
          <p:nvPr/>
        </p:nvSpPr>
        <p:spPr>
          <a:xfrm>
            <a:off x="15468480" y="293364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1">
              <a:extLst>
                <a:ext uri="{96DAC541-7B7A-43D3-8B79-37D633B846F1}">
                  <asvg:svgBlip xmlns:asvg="http://schemas.microsoft.com/office/drawing/2016/SVG/main" r:embed="rId1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4" name="Freeform 10"/>
          <p:cNvSpPr/>
          <p:nvPr/>
        </p:nvSpPr>
        <p:spPr>
          <a:xfrm>
            <a:off x="15468480" y="803916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3">
              <a:extLst>
                <a:ext uri="{96DAC541-7B7A-43D3-8B79-37D633B846F1}">
                  <asvg:svgBlip xmlns:asvg="http://schemas.microsoft.com/office/drawing/2016/SVG/main" r:embed="rId1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5" name="Freeform 10"/>
          <p:cNvSpPr/>
          <p:nvPr/>
        </p:nvSpPr>
        <p:spPr>
          <a:xfrm>
            <a:off x="15468480" y="6362640"/>
            <a:ext cx="1141560" cy="1141560"/>
          </a:xfrm>
          <a:custGeom>
            <a:avLst/>
            <a:gdLst>
              <a:gd name="textAreaLeft" fmla="*/ 0 w 1141560"/>
              <a:gd name="textAreaRight" fmla="*/ 1143000 w 1141560"/>
              <a:gd name="textAreaTop" fmla="*/ 0 h 1141560"/>
              <a:gd name="textAreaBottom" fmla="*/ 1143000 h 11415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5">
              <a:extLst>
                <a:ext uri="{96DAC541-7B7A-43D3-8B79-37D633B846F1}">
                  <asvg:svgBlip xmlns:asvg="http://schemas.microsoft.com/office/drawing/2016/SVG/main" r:embed="rId1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86" name="Group 55"/>
          <p:cNvGrpSpPr/>
          <p:nvPr/>
        </p:nvGrpSpPr>
        <p:grpSpPr>
          <a:xfrm>
            <a:off x="15316200" y="3238560"/>
            <a:ext cx="1217880" cy="6247080"/>
            <a:chOff x="15316200" y="3238560"/>
            <a:chExt cx="1217880" cy="6247080"/>
          </a:xfrm>
        </p:grpSpPr>
        <p:sp>
          <p:nvSpPr>
            <p:cNvPr id="87" name="Explosion: 8 Points 38"/>
            <p:cNvSpPr/>
            <p:nvPr/>
          </p:nvSpPr>
          <p:spPr>
            <a:xfrm>
              <a:off x="15316200" y="491508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8" name="Explosion: 8 Points 40"/>
            <p:cNvSpPr/>
            <p:nvPr/>
          </p:nvSpPr>
          <p:spPr>
            <a:xfrm>
              <a:off x="15316200" y="323856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9" name="Explosion: 8 Points 42"/>
            <p:cNvSpPr/>
            <p:nvPr/>
          </p:nvSpPr>
          <p:spPr>
            <a:xfrm>
              <a:off x="15316200" y="834408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0" name="Explosion: 8 Points 44"/>
            <p:cNvSpPr/>
            <p:nvPr/>
          </p:nvSpPr>
          <p:spPr>
            <a:xfrm>
              <a:off x="15316200" y="6667560"/>
              <a:ext cx="1217880" cy="114156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1" name="Group 54"/>
          <p:cNvGrpSpPr/>
          <p:nvPr/>
        </p:nvGrpSpPr>
        <p:grpSpPr>
          <a:xfrm>
            <a:off x="14095440" y="3695760"/>
            <a:ext cx="1035360" cy="4875480"/>
            <a:chOff x="14095440" y="3695760"/>
            <a:chExt cx="1035360" cy="4875480"/>
          </a:xfrm>
        </p:grpSpPr>
        <p:sp>
          <p:nvSpPr>
            <p:cNvPr id="92" name="Arrow: Right 46"/>
            <p:cNvSpPr/>
            <p:nvPr/>
          </p:nvSpPr>
          <p:spPr>
            <a:xfrm rot="20311800">
              <a:off x="14271120" y="3810960"/>
              <a:ext cx="760680" cy="6843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3" name="Arrow: Right 47"/>
            <p:cNvSpPr/>
            <p:nvPr/>
          </p:nvSpPr>
          <p:spPr>
            <a:xfrm flipV="1" rot="1288200">
              <a:off x="14194080" y="7771320"/>
              <a:ext cx="76068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4" name="Arrow: Right 49"/>
            <p:cNvSpPr/>
            <p:nvPr/>
          </p:nvSpPr>
          <p:spPr>
            <a:xfrm flipV="1">
              <a:off x="14249520" y="6894720"/>
              <a:ext cx="760680" cy="6843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5" name="Arrow: Right 50"/>
            <p:cNvSpPr/>
            <p:nvPr/>
          </p:nvSpPr>
          <p:spPr>
            <a:xfrm flipV="1">
              <a:off x="14325480" y="4837320"/>
              <a:ext cx="760680" cy="6843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6" name="Group 52"/>
          <p:cNvGrpSpPr/>
          <p:nvPr/>
        </p:nvGrpSpPr>
        <p:grpSpPr>
          <a:xfrm>
            <a:off x="11733480" y="4991040"/>
            <a:ext cx="959040" cy="1980000"/>
            <a:chOff x="11733480" y="4991040"/>
            <a:chExt cx="959040" cy="1980000"/>
          </a:xfrm>
        </p:grpSpPr>
        <p:sp>
          <p:nvSpPr>
            <p:cNvPr id="97" name="Arrow: Right 45"/>
            <p:cNvSpPr/>
            <p:nvPr/>
          </p:nvSpPr>
          <p:spPr>
            <a:xfrm rot="20311800">
              <a:off x="11832840" y="5106240"/>
              <a:ext cx="760680" cy="6843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8" name="Arrow: Right 51"/>
            <p:cNvSpPr/>
            <p:nvPr/>
          </p:nvSpPr>
          <p:spPr>
            <a:xfrm flipV="1" rot="1288200">
              <a:off x="11832120" y="6171120"/>
              <a:ext cx="76068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nodeType="afterEffect" fill="hold" presetClass="entr" presetID="1">
                                  <p:stCondLst>
                                    <p:cond delay="3000"/>
                                  </p:stCondLst>
                                  <p:childTnLst>
                                    <p:set>
                                      <p:cBhvr>
                                        <p:cTn id="9" dur="1" fill="hold">
                                          <p:stCondLst>
                                            <p:cond delay="0"/>
                                          </p:stCondLst>
                                        </p:cTn>
                                        <p:tgtEl>
                                          <p:spTgt spid="79"/>
                                        </p:tgtEl>
                                        <p:attrNameLst>
                                          <p:attrName>style.visibility</p:attrName>
                                        </p:attrNameLst>
                                      </p:cBhvr>
                                      <p:to>
                                        <p:strVal val="visible"/>
                                      </p:to>
                                    </p:set>
                                  </p:childTnLst>
                                </p:cTn>
                              </p:par>
                            </p:childTnLst>
                          </p:cTn>
                        </p:par>
                        <p:par>
                          <p:cTn id="10" fill="hold">
                            <p:stCondLst>
                              <p:cond delay="3000"/>
                            </p:stCondLst>
                            <p:childTnLst>
                              <p:par>
                                <p:cTn id="11" nodeType="afterEffect" fill="hold" presetClass="entr" presetID="1">
                                  <p:stCondLst>
                                    <p:cond delay="3000"/>
                                  </p:stCondLst>
                                  <p:childTnLst>
                                    <p:set>
                                      <p:cBhvr>
                                        <p:cTn id="12" dur="1" fill="hold">
                                          <p:stCondLst>
                                            <p:cond delay="0"/>
                                          </p:stCondLst>
                                        </p:cTn>
                                        <p:tgtEl>
                                          <p:spTgt spid="96"/>
                                        </p:tgtEl>
                                        <p:attrNameLst>
                                          <p:attrName>style.visibility</p:attrName>
                                        </p:attrNameLst>
                                      </p:cBhvr>
                                      <p:to>
                                        <p:strVal val="visible"/>
                                      </p:to>
                                    </p:set>
                                  </p:childTnLst>
                                </p:cTn>
                              </p:par>
                            </p:childTnLst>
                          </p:cTn>
                        </p:par>
                        <p:par>
                          <p:cTn id="13" fill="hold">
                            <p:stCondLst>
                              <p:cond delay="6000"/>
                            </p:stCondLst>
                            <p:childTnLst>
                              <p:par>
                                <p:cTn id="14" nodeType="afterEffect" fill="hold" presetClass="entr" presetID="1">
                                  <p:stCondLst>
                                    <p:cond delay="3000"/>
                                  </p:stCondLst>
                                  <p:childTnLst>
                                    <p:set>
                                      <p:cBhvr>
                                        <p:cTn id="15" dur="1" fill="hold">
                                          <p:stCondLst>
                                            <p:cond delay="0"/>
                                          </p:stCondLst>
                                        </p:cTn>
                                        <p:tgtEl>
                                          <p:spTgt spid="70"/>
                                        </p:tgtEl>
                                        <p:attrNameLst>
                                          <p:attrName>style.visibility</p:attrName>
                                        </p:attrNameLst>
                                      </p:cBhvr>
                                      <p:to>
                                        <p:strVal val="visible"/>
                                      </p:to>
                                    </p:set>
                                  </p:childTnLst>
                                </p:cTn>
                              </p:par>
                            </p:childTnLst>
                          </p:cTn>
                        </p:par>
                        <p:par>
                          <p:cTn id="16" fill="hold">
                            <p:stCondLst>
                              <p:cond delay="9000"/>
                            </p:stCondLst>
                            <p:childTnLst>
                              <p:par>
                                <p:cTn id="17" nodeType="afterEffect" fill="hold" presetClass="entr" presetID="1">
                                  <p:stCondLst>
                                    <p:cond delay="3000"/>
                                  </p:stCondLst>
                                  <p:childTnLst>
                                    <p:set>
                                      <p:cBhvr>
                                        <p:cTn id="18" dur="1" fill="hold">
                                          <p:stCondLst>
                                            <p:cond delay="0"/>
                                          </p:stCondLst>
                                        </p:cTn>
                                        <p:tgtEl>
                                          <p:spTgt spid="91"/>
                                        </p:tgtEl>
                                        <p:attrNameLst>
                                          <p:attrName>style.visibility</p:attrName>
                                        </p:attrNameLst>
                                      </p:cBhvr>
                                      <p:to>
                                        <p:strVal val="visible"/>
                                      </p:to>
                                    </p:set>
                                  </p:childTnLst>
                                </p:cTn>
                              </p:par>
                            </p:childTnLst>
                          </p:cTn>
                        </p:par>
                        <p:par>
                          <p:cTn id="19" fill="hold">
                            <p:stCondLst>
                              <p:cond delay="12000"/>
                            </p:stCondLst>
                            <p:childTnLst>
                              <p:par>
                                <p:cTn id="20" nodeType="afterEffect" fill="hold" presetClass="entr" presetID="1">
                                  <p:stCondLst>
                                    <p:cond delay="3000"/>
                                  </p:stCondLst>
                                  <p:childTnLst>
                                    <p:set>
                                      <p:cBhvr>
                                        <p:cTn id="21"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99" name="TextBox 6"/>
          <p:cNvSpPr/>
          <p:nvPr/>
        </p:nvSpPr>
        <p:spPr>
          <a:xfrm>
            <a:off x="887040" y="73152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Satellite </a:t>
            </a:r>
            <a:r>
              <a:rPr b="1" lang="en-US" sz="9000" spc="-1" strike="noStrike">
                <a:solidFill>
                  <a:srgbClr val="ffbd00"/>
                </a:solidFill>
                <a:latin typeface="Century Gothic Paneuropean Heavy"/>
                <a:ea typeface="Century Gothic Paneuropean Heavy"/>
              </a:rPr>
              <a:t>Launch Trends</a:t>
            </a:r>
            <a:endParaRPr b="0" lang="en-US" sz="9000" spc="-1" strike="noStrike">
              <a:solidFill>
                <a:srgbClr val="ffffff"/>
              </a:solidFill>
              <a:latin typeface="Arial"/>
            </a:endParaRPr>
          </a:p>
        </p:txBody>
      </p:sp>
      <p:pic>
        <p:nvPicPr>
          <p:cNvPr id="100" name="Picture 99" descr=""/>
          <p:cNvPicPr/>
          <p:nvPr/>
        </p:nvPicPr>
        <p:blipFill>
          <a:blip r:embed="rId1"/>
          <a:stretch/>
        </p:blipFill>
        <p:spPr>
          <a:xfrm>
            <a:off x="1265760" y="2057400"/>
            <a:ext cx="15649920" cy="7771680"/>
          </a:xfrm>
          <a:prstGeom prst="rect">
            <a:avLst/>
          </a:prstGeom>
          <a:ln w="0">
            <a:noFill/>
          </a:ln>
        </p:spPr>
      </p:pic>
      <p:sp>
        <p:nvSpPr>
          <p:cNvPr id="101" name="TextBox 5"/>
          <p:cNvSpPr/>
          <p:nvPr/>
        </p:nvSpPr>
        <p:spPr>
          <a:xfrm>
            <a:off x="9944280" y="2514600"/>
            <a:ext cx="58284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spcBef>
                <a:spcPts val="1191"/>
              </a:spcBef>
              <a:spcAft>
                <a:spcPts val="992"/>
              </a:spcAft>
              <a:tabLst>
                <a:tab algn="l" pos="0"/>
              </a:tabLst>
            </a:pPr>
            <a:r>
              <a:rPr b="1" lang="en-US" sz="3200" spc="-1" strike="noStrike">
                <a:solidFill>
                  <a:srgbClr val="9ad3f3"/>
                </a:solidFill>
                <a:latin typeface="Open Sauce Semi-Bold"/>
                <a:ea typeface="Open Sauce Semi-Bold"/>
              </a:rPr>
              <a:t>Objects In Orbit, Cumulative</a:t>
            </a: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2" name="Picture 101" descr=""/>
          <p:cNvPicPr/>
          <p:nvPr/>
        </p:nvPicPr>
        <p:blipFill>
          <a:blip r:embed="rId1"/>
          <a:stretch/>
        </p:blipFill>
        <p:spPr>
          <a:xfrm>
            <a:off x="432000" y="2300400"/>
            <a:ext cx="17159400" cy="7540920"/>
          </a:xfrm>
          <a:prstGeom prst="rect">
            <a:avLst/>
          </a:prstGeom>
          <a:ln w="0">
            <a:noFill/>
          </a:ln>
        </p:spPr>
      </p:pic>
      <p:sp>
        <p:nvSpPr>
          <p:cNvPr id="103" name="TextBox 22"/>
          <p:cNvSpPr/>
          <p:nvPr/>
        </p:nvSpPr>
        <p:spPr>
          <a:xfrm>
            <a:off x="887040" y="73152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What’s up </a:t>
            </a:r>
            <a:r>
              <a:rPr b="1" lang="en-US" sz="9000" spc="-1" strike="noStrike">
                <a:solidFill>
                  <a:srgbClr val="ffbd00"/>
                </a:solidFill>
                <a:latin typeface="Century Gothic Paneuropean Heavy"/>
                <a:ea typeface="Century Gothic Paneuropean Heavy"/>
              </a:rPr>
              <a:t>in Orbit?</a:t>
            </a:r>
            <a:endParaRPr b="0" lang="en-US" sz="9000" spc="-1" strike="noStrike">
              <a:solidFill>
                <a:srgbClr val="ffffff"/>
              </a:solidFill>
              <a:latin typeface="Arial"/>
            </a:endParaRPr>
          </a:p>
        </p:txBody>
      </p:sp>
      <p:sp>
        <p:nvSpPr>
          <p:cNvPr id="104" name="TextBox 25"/>
          <p:cNvSpPr/>
          <p:nvPr/>
        </p:nvSpPr>
        <p:spPr>
          <a:xfrm>
            <a:off x="13471920" y="1051560"/>
            <a:ext cx="433260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Count of Objects In Low Earth Orbit</a:t>
            </a:r>
            <a:endParaRPr b="0" lang="en-US" sz="3200" spc="-1" strike="noStrike">
              <a:solidFill>
                <a:srgbClr val="ffffff"/>
              </a:solidFill>
              <a:latin typeface="Arial"/>
            </a:endParaRPr>
          </a:p>
        </p:txBody>
      </p:sp>
      <p:pic>
        <p:nvPicPr>
          <p:cNvPr id="105" name="Picture 104" descr=""/>
          <p:cNvPicPr/>
          <p:nvPr/>
        </p:nvPicPr>
        <p:blipFill>
          <a:blip r:embed="rId2"/>
          <a:stretch/>
        </p:blipFill>
        <p:spPr>
          <a:xfrm>
            <a:off x="12032640" y="3332520"/>
            <a:ext cx="6025680" cy="4667400"/>
          </a:xfrm>
          <a:prstGeom prst="rect">
            <a:avLst/>
          </a:prstGeom>
          <a:ln w="0">
            <a:noFill/>
          </a:ln>
        </p:spPr>
      </p:pic>
      <p:pic>
        <p:nvPicPr>
          <p:cNvPr id="106" name="Picture 105" descr=""/>
          <p:cNvPicPr/>
          <p:nvPr/>
        </p:nvPicPr>
        <p:blipFill>
          <a:blip r:embed="rId3"/>
          <a:stretch/>
        </p:blipFill>
        <p:spPr>
          <a:xfrm>
            <a:off x="7086600" y="3441600"/>
            <a:ext cx="4793760" cy="457092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7" name="Picture 106" descr=""/>
          <p:cNvPicPr/>
          <p:nvPr/>
        </p:nvPicPr>
        <p:blipFill>
          <a:blip r:embed="rId1"/>
          <a:stretch/>
        </p:blipFill>
        <p:spPr>
          <a:xfrm>
            <a:off x="349200" y="2570400"/>
            <a:ext cx="10843200" cy="7222320"/>
          </a:xfrm>
          <a:prstGeom prst="rect">
            <a:avLst/>
          </a:prstGeom>
          <a:ln w="0">
            <a:noFill/>
          </a:ln>
        </p:spPr>
      </p:pic>
      <p:sp>
        <p:nvSpPr>
          <p:cNvPr id="108" name="TextBox 32"/>
          <p:cNvSpPr/>
          <p:nvPr/>
        </p:nvSpPr>
        <p:spPr>
          <a:xfrm>
            <a:off x="13269240" y="1058400"/>
            <a:ext cx="433260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Mass of Payloads</a:t>
            </a:r>
            <a:endParaRPr b="0" lang="en-US" sz="3200" spc="-1" strike="noStrike">
              <a:solidFill>
                <a:srgbClr val="ffffff"/>
              </a:solidFill>
              <a:latin typeface="Arial"/>
            </a:endParaRPr>
          </a:p>
          <a:p>
            <a:pPr algn="r" defTabSz="914400">
              <a:lnSpc>
                <a:spcPts val="3841"/>
              </a:lnSpc>
              <a:tabLst>
                <a:tab algn="l" pos="0"/>
              </a:tabLst>
            </a:pPr>
            <a:r>
              <a:rPr b="1" lang="en-US" sz="3200" spc="-1" strike="noStrike">
                <a:solidFill>
                  <a:srgbClr val="9ad3f3"/>
                </a:solidFill>
                <a:latin typeface="Open Sauce Semi-Bold"/>
                <a:ea typeface="Open Sauce Semi-Bold"/>
              </a:rPr>
              <a:t>in Low Earth Orbit </a:t>
            </a:r>
            <a:endParaRPr b="0" lang="en-US" sz="3200" spc="-1" strike="noStrike">
              <a:solidFill>
                <a:srgbClr val="ffffff"/>
              </a:solidFill>
              <a:latin typeface="Arial"/>
            </a:endParaRPr>
          </a:p>
        </p:txBody>
      </p:sp>
      <p:sp>
        <p:nvSpPr>
          <p:cNvPr id="109" name="TextBox 21"/>
          <p:cNvSpPr/>
          <p:nvPr/>
        </p:nvSpPr>
        <p:spPr>
          <a:xfrm>
            <a:off x="887040" y="7545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Heavy </a:t>
            </a:r>
            <a:r>
              <a:rPr b="1" lang="en-US" sz="9000" spc="-1" strike="noStrike">
                <a:solidFill>
                  <a:srgbClr val="ffbd00"/>
                </a:solidFill>
                <a:latin typeface="Century Gothic Paneuropean Heavy"/>
                <a:ea typeface="Century Gothic Paneuropean Heavy"/>
              </a:rPr>
              <a:t>Metal</a:t>
            </a:r>
            <a:endParaRPr b="0" lang="en-US" sz="9000" spc="-1" strike="noStrike">
              <a:solidFill>
                <a:srgbClr val="ffffff"/>
              </a:solidFill>
              <a:latin typeface="Arial"/>
            </a:endParaRPr>
          </a:p>
        </p:txBody>
      </p:sp>
      <p:pic>
        <p:nvPicPr>
          <p:cNvPr id="110" name="Picture 109" descr=""/>
          <p:cNvPicPr/>
          <p:nvPr/>
        </p:nvPicPr>
        <p:blipFill>
          <a:blip r:embed="rId2"/>
          <a:stretch/>
        </p:blipFill>
        <p:spPr>
          <a:xfrm>
            <a:off x="11658600" y="2435400"/>
            <a:ext cx="5943240" cy="7394040"/>
          </a:xfrm>
          <a:prstGeom prst="rect">
            <a:avLst/>
          </a:prstGeom>
          <a:ln w="0">
            <a:noFill/>
          </a:ln>
        </p:spPr>
      </p:pic>
      <p:pic>
        <p:nvPicPr>
          <p:cNvPr id="111" name="Picture 110" descr=""/>
          <p:cNvPicPr/>
          <p:nvPr/>
        </p:nvPicPr>
        <p:blipFill>
          <a:blip r:embed="rId3"/>
          <a:stretch/>
        </p:blipFill>
        <p:spPr>
          <a:xfrm>
            <a:off x="4114800" y="3797640"/>
            <a:ext cx="6629040" cy="4948560"/>
          </a:xfrm>
          <a:prstGeom prst="rect">
            <a:avLst/>
          </a:prstGeom>
          <a:ln w="0">
            <a:noFill/>
          </a:ln>
        </p:spPr>
      </p:pic>
      <p:pic>
        <p:nvPicPr>
          <p:cNvPr id="112" name="Picture 111" descr=""/>
          <p:cNvPicPr/>
          <p:nvPr/>
        </p:nvPicPr>
        <p:blipFill>
          <a:blip r:embed="rId4"/>
          <a:stretch/>
        </p:blipFill>
        <p:spPr>
          <a:xfrm>
            <a:off x="13944600" y="4283640"/>
            <a:ext cx="3885840" cy="388584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3" name="TextBox 23"/>
          <p:cNvSpPr/>
          <p:nvPr/>
        </p:nvSpPr>
        <p:spPr>
          <a:xfrm>
            <a:off x="887040" y="731520"/>
            <a:ext cx="14286240" cy="137196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Where are </a:t>
            </a:r>
            <a:r>
              <a:rPr b="1" lang="en-US" sz="9000" spc="-1" strike="noStrike">
                <a:solidFill>
                  <a:srgbClr val="ffbd00"/>
                </a:solidFill>
                <a:latin typeface="Century Gothic Paneuropean Heavy"/>
                <a:ea typeface="Century Gothic Paneuropean Heavy"/>
              </a:rPr>
              <a:t>they all?</a:t>
            </a:r>
            <a:endParaRPr b="0" lang="en-US" sz="9000" spc="-1" strike="noStrike">
              <a:solidFill>
                <a:srgbClr val="ffffff"/>
              </a:solidFill>
              <a:latin typeface="Arial"/>
            </a:endParaRPr>
          </a:p>
        </p:txBody>
      </p:sp>
      <p:sp>
        <p:nvSpPr>
          <p:cNvPr id="114" name="TextBox 26"/>
          <p:cNvSpPr/>
          <p:nvPr/>
        </p:nvSpPr>
        <p:spPr>
          <a:xfrm>
            <a:off x="14401800" y="2712240"/>
            <a:ext cx="1371600" cy="48816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endParaRPr b="0" lang="en-US" sz="1800" spc="-1" strike="noStrike">
              <a:solidFill>
                <a:srgbClr val="ffffff"/>
              </a:solidFill>
              <a:latin typeface="Arial"/>
            </a:endParaRPr>
          </a:p>
        </p:txBody>
      </p:sp>
      <p:pic>
        <p:nvPicPr>
          <p:cNvPr id="115" name="" descr=""/>
          <p:cNvPicPr/>
          <p:nvPr/>
        </p:nvPicPr>
        <p:blipFill>
          <a:blip r:embed="rId1"/>
          <a:stretch/>
        </p:blipFill>
        <p:spPr>
          <a:xfrm>
            <a:off x="457200" y="3429000"/>
            <a:ext cx="17443080" cy="6172200"/>
          </a:xfrm>
          <a:prstGeom prst="rect">
            <a:avLst/>
          </a:prstGeom>
          <a:ln w="0">
            <a:noFill/>
          </a:ln>
        </p:spPr>
      </p:pic>
      <p:pic>
        <p:nvPicPr>
          <p:cNvPr id="116" name="" descr=""/>
          <p:cNvPicPr/>
          <p:nvPr/>
        </p:nvPicPr>
        <p:blipFill>
          <a:blip r:embed="rId2"/>
          <a:stretch/>
        </p:blipFill>
        <p:spPr>
          <a:xfrm>
            <a:off x="13258800" y="447120"/>
            <a:ext cx="4800600" cy="4485960"/>
          </a:xfrm>
          <a:prstGeom prst="rect">
            <a:avLst/>
          </a:prstGeom>
          <a:ln w="0">
            <a:noFill/>
          </a:ln>
        </p:spPr>
      </p:pic>
      <p:sp>
        <p:nvSpPr>
          <p:cNvPr id="117" name="TextBox 28"/>
          <p:cNvSpPr/>
          <p:nvPr/>
        </p:nvSpPr>
        <p:spPr>
          <a:xfrm>
            <a:off x="685800" y="2940840"/>
            <a:ext cx="9144000" cy="48816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Orbital Paths of Payloads currently in Orbit</a:t>
            </a: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8" name="TextBox 24"/>
          <p:cNvSpPr/>
          <p:nvPr/>
        </p:nvSpPr>
        <p:spPr>
          <a:xfrm>
            <a:off x="887040" y="731520"/>
            <a:ext cx="14286240" cy="137196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Crowded </a:t>
            </a:r>
            <a:r>
              <a:rPr b="1" lang="en-US" sz="9000" spc="-1" strike="noStrike">
                <a:solidFill>
                  <a:srgbClr val="ffbd00"/>
                </a:solidFill>
                <a:latin typeface="Century Gothic Paneuropean Heavy"/>
                <a:ea typeface="Century Gothic Paneuropean Heavy"/>
              </a:rPr>
              <a:t>LEO</a:t>
            </a:r>
            <a:endParaRPr b="0" lang="en-US" sz="9000" spc="-1" strike="noStrike">
              <a:solidFill>
                <a:srgbClr val="ffffff"/>
              </a:solidFill>
              <a:latin typeface="Arial"/>
            </a:endParaRPr>
          </a:p>
        </p:txBody>
      </p:sp>
      <p:sp>
        <p:nvSpPr>
          <p:cNvPr id="119" name="TextBox 27"/>
          <p:cNvSpPr/>
          <p:nvPr/>
        </p:nvSpPr>
        <p:spPr>
          <a:xfrm>
            <a:off x="14401800" y="2712240"/>
            <a:ext cx="1371600" cy="488160"/>
          </a:xfrm>
          <a:prstGeom prst="rect">
            <a:avLst/>
          </a:prstGeom>
          <a:noFill/>
          <a:ln w="0">
            <a:noFill/>
          </a:ln>
        </p:spPr>
        <p:style>
          <a:lnRef idx="0"/>
          <a:fillRef idx="0"/>
          <a:effectRef idx="0"/>
          <a:fontRef idx="minor"/>
        </p:style>
        <p:txBody>
          <a:bodyPr lIns="0" rIns="0" tIns="0" bIns="0" anchor="t">
            <a:spAutoFit/>
          </a:bodyPr>
          <a:p>
            <a:endParaRPr b="0" lang="en-US" sz="1800" spc="-1" strike="noStrike">
              <a:solidFill>
                <a:srgbClr val="ffffff"/>
              </a:solidFill>
              <a:latin typeface="Arial"/>
            </a:endParaRPr>
          </a:p>
        </p:txBody>
      </p:sp>
      <p:pic>
        <p:nvPicPr>
          <p:cNvPr id="120" name="" descr=""/>
          <p:cNvPicPr/>
          <p:nvPr/>
        </p:nvPicPr>
        <p:blipFill>
          <a:blip r:embed="rId1"/>
          <a:stretch/>
        </p:blipFill>
        <p:spPr>
          <a:xfrm>
            <a:off x="6041520" y="2514600"/>
            <a:ext cx="10417680" cy="7302600"/>
          </a:xfrm>
          <a:prstGeom prst="rect">
            <a:avLst/>
          </a:prstGeom>
          <a:ln w="0">
            <a:noFill/>
          </a:ln>
        </p:spPr>
      </p:pic>
      <p:sp>
        <p:nvSpPr>
          <p:cNvPr id="121" name="TextBox 29"/>
          <p:cNvSpPr/>
          <p:nvPr/>
        </p:nvSpPr>
        <p:spPr>
          <a:xfrm>
            <a:off x="997920" y="36576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Deep Space</a:t>
            </a:r>
            <a:endParaRPr b="0" lang="en-US" sz="3200" spc="-1" strike="noStrike">
              <a:solidFill>
                <a:srgbClr val="ffffff"/>
              </a:solidFill>
              <a:latin typeface="Arial"/>
            </a:endParaRPr>
          </a:p>
        </p:txBody>
      </p:sp>
      <p:sp>
        <p:nvSpPr>
          <p:cNvPr id="122" name="TextBox 30"/>
          <p:cNvSpPr/>
          <p:nvPr/>
        </p:nvSpPr>
        <p:spPr>
          <a:xfrm>
            <a:off x="997920" y="4339080"/>
            <a:ext cx="386928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In the 1960’s, many more payloads were launched into deep space.</a:t>
            </a:r>
            <a:endParaRPr b="0" lang="en-US" sz="2400" spc="-1" strike="noStrike">
              <a:solidFill>
                <a:srgbClr val="ffffff"/>
              </a:solidFill>
              <a:latin typeface="Arial"/>
            </a:endParaRPr>
          </a:p>
        </p:txBody>
      </p:sp>
      <p:sp>
        <p:nvSpPr>
          <p:cNvPr id="123" name="TextBox 33"/>
          <p:cNvSpPr/>
          <p:nvPr/>
        </p:nvSpPr>
        <p:spPr>
          <a:xfrm>
            <a:off x="997920" y="61722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Communications</a:t>
            </a:r>
            <a:endParaRPr b="0" lang="en-US" sz="3200" spc="-1" strike="noStrike">
              <a:solidFill>
                <a:srgbClr val="ffffff"/>
              </a:solidFill>
              <a:latin typeface="Arial"/>
            </a:endParaRPr>
          </a:p>
        </p:txBody>
      </p:sp>
      <p:sp>
        <p:nvSpPr>
          <p:cNvPr id="124" name="TextBox 34"/>
          <p:cNvSpPr/>
          <p:nvPr/>
        </p:nvSpPr>
        <p:spPr>
          <a:xfrm>
            <a:off x="997920" y="6853680"/>
            <a:ext cx="386928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Most modern satellites are for communications, requiring Low Earth Orbit.</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5" name="TextBox 31"/>
          <p:cNvSpPr/>
          <p:nvPr/>
        </p:nvSpPr>
        <p:spPr>
          <a:xfrm>
            <a:off x="887040" y="73152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Operators and </a:t>
            </a:r>
            <a:r>
              <a:rPr b="1" lang="en-US" sz="9000" spc="-1" strike="noStrike">
                <a:solidFill>
                  <a:srgbClr val="ffbd00"/>
                </a:solidFill>
                <a:latin typeface="Century Gothic Paneuropean Heavy"/>
                <a:ea typeface="Century Gothic Paneuropean Heavy"/>
              </a:rPr>
              <a:t>Origins</a:t>
            </a:r>
            <a:endParaRPr b="0" lang="en-US" sz="9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6" name="TextBox 6"/>
          <p:cNvSpPr/>
          <p:nvPr/>
        </p:nvSpPr>
        <p:spPr>
          <a:xfrm>
            <a:off x="1028880" y="10191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Lifespan and </a:t>
            </a:r>
            <a:r>
              <a:rPr b="1" lang="en-US" sz="9000" spc="-1" strike="noStrike">
                <a:solidFill>
                  <a:srgbClr val="ffbd00"/>
                </a:solidFill>
                <a:latin typeface="Century Gothic Paneuropean Heavy"/>
                <a:ea typeface="Century Gothic Paneuropean Heavy"/>
              </a:rPr>
              <a:t>Litter</a:t>
            </a:r>
            <a:endParaRPr b="0" lang="en-US" sz="9000" spc="-1" strike="noStrike">
              <a:solidFill>
                <a:srgbClr val="ffffff"/>
              </a:solidFill>
              <a:latin typeface="Arial"/>
            </a:endParaRPr>
          </a:p>
        </p:txBody>
      </p:sp>
      <p:sp>
        <p:nvSpPr>
          <p:cNvPr id="127" name="TextBox 8"/>
          <p:cNvSpPr/>
          <p:nvPr/>
        </p:nvSpPr>
        <p:spPr>
          <a:xfrm>
            <a:off x="5283720" y="400536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28" name="TextBox 9"/>
          <p:cNvSpPr/>
          <p:nvPr/>
        </p:nvSpPr>
        <p:spPr>
          <a:xfrm>
            <a:off x="1028880" y="699840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29" name="TextBox 10"/>
          <p:cNvSpPr/>
          <p:nvPr/>
        </p:nvSpPr>
        <p:spPr>
          <a:xfrm>
            <a:off x="5283720" y="69984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30" name="TextBox 11"/>
          <p:cNvSpPr/>
          <p:nvPr/>
        </p:nvSpPr>
        <p:spPr>
          <a:xfrm>
            <a:off x="102888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31" name="TextBox 12"/>
          <p:cNvSpPr/>
          <p:nvPr/>
        </p:nvSpPr>
        <p:spPr>
          <a:xfrm>
            <a:off x="528372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32" name="TextBox 13"/>
          <p:cNvSpPr/>
          <p:nvPr/>
        </p:nvSpPr>
        <p:spPr>
          <a:xfrm>
            <a:off x="102888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33" name="TextBox 14"/>
          <p:cNvSpPr/>
          <p:nvPr/>
        </p:nvSpPr>
        <p:spPr>
          <a:xfrm>
            <a:off x="528372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34" name="TextBox 6"/>
          <p:cNvSpPr/>
          <p:nvPr/>
        </p:nvSpPr>
        <p:spPr>
          <a:xfrm>
            <a:off x="1028880" y="10191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Collision </a:t>
            </a:r>
            <a:r>
              <a:rPr b="1" lang="en-US" sz="9000" spc="-1" strike="noStrike">
                <a:solidFill>
                  <a:srgbClr val="ffbd00"/>
                </a:solidFill>
                <a:latin typeface="Century Gothic Paneuropean Heavy"/>
                <a:ea typeface="Century Gothic Paneuropean Heavy"/>
              </a:rPr>
              <a:t>Risk</a:t>
            </a:r>
            <a:endParaRPr b="0" lang="en-US" sz="9000" spc="-1" strike="noStrike">
              <a:solidFill>
                <a:srgbClr val="ffffff"/>
              </a:solidFill>
              <a:latin typeface="Arial"/>
            </a:endParaRPr>
          </a:p>
        </p:txBody>
      </p:sp>
      <p:sp>
        <p:nvSpPr>
          <p:cNvPr id="135" name="TextBox 7"/>
          <p:cNvSpPr/>
          <p:nvPr/>
        </p:nvSpPr>
        <p:spPr>
          <a:xfrm>
            <a:off x="1028880" y="400536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36" name="TextBox 8"/>
          <p:cNvSpPr/>
          <p:nvPr/>
        </p:nvSpPr>
        <p:spPr>
          <a:xfrm>
            <a:off x="5283720" y="400536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37" name="TextBox 9"/>
          <p:cNvSpPr/>
          <p:nvPr/>
        </p:nvSpPr>
        <p:spPr>
          <a:xfrm>
            <a:off x="1028880" y="699840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38" name="TextBox 10"/>
          <p:cNvSpPr/>
          <p:nvPr/>
        </p:nvSpPr>
        <p:spPr>
          <a:xfrm>
            <a:off x="5283720" y="69984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In The News</a:t>
            </a:r>
            <a:endParaRPr b="0" lang="en-US" sz="3200" spc="-1" strike="noStrike">
              <a:solidFill>
                <a:srgbClr val="ffffff"/>
              </a:solidFill>
              <a:latin typeface="Arial"/>
            </a:endParaRPr>
          </a:p>
        </p:txBody>
      </p:sp>
      <p:sp>
        <p:nvSpPr>
          <p:cNvPr id="139" name="TextBox 11"/>
          <p:cNvSpPr/>
          <p:nvPr/>
        </p:nvSpPr>
        <p:spPr>
          <a:xfrm>
            <a:off x="1028880" y="4686840"/>
            <a:ext cx="3869280" cy="3412440"/>
          </a:xfrm>
          <a:prstGeom prst="rect">
            <a:avLst/>
          </a:prstGeom>
          <a:noFill/>
          <a:ln w="0">
            <a:noFill/>
          </a:ln>
        </p:spPr>
        <p:style>
          <a:lnRef idx="0"/>
          <a:fillRef idx="0"/>
          <a:effectRef idx="0"/>
          <a:fontRef idx="minor"/>
        </p:style>
        <p:txBody>
          <a:bodyPr lIns="0" rIns="0" tIns="0" bIns="0" anchor="t">
            <a:spAutoFit/>
          </a:bodyPr>
          <a:p>
            <a:pPr defTabSz="914400">
              <a:lnSpc>
                <a:spcPts val="3359"/>
              </a:lnSpc>
              <a:spcBef>
                <a:spcPts val="1191"/>
              </a:spcBef>
              <a:spcAft>
                <a:spcPts val="992"/>
              </a:spcAft>
              <a:tabLst>
                <a:tab algn="l" pos="0"/>
              </a:tabLst>
            </a:pPr>
            <a:r>
              <a:rPr b="0" lang="en-US" sz="2400" spc="-1" strike="noStrike">
                <a:solidFill>
                  <a:srgbClr val="ffffff"/>
                </a:solidFill>
                <a:latin typeface="Open Sauce"/>
                <a:ea typeface="Open Sauce"/>
              </a:rPr>
              <a:t>During the first four years after the first Starlink launch, the number of evasive maneuvers kept doubling every six months, reaching 25,299 in the half-year leading up to May 31, 2023</a:t>
            </a:r>
            <a:endParaRPr b="0" lang="en-US" sz="2400" spc="-1" strike="noStrike">
              <a:solidFill>
                <a:srgbClr val="ffffff"/>
              </a:solidFill>
              <a:latin typeface="Arial"/>
            </a:endParaRPr>
          </a:p>
        </p:txBody>
      </p:sp>
      <p:sp>
        <p:nvSpPr>
          <p:cNvPr id="140" name="TextBox 12"/>
          <p:cNvSpPr/>
          <p:nvPr/>
        </p:nvSpPr>
        <p:spPr>
          <a:xfrm>
            <a:off x="528372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1" name="TextBox 13"/>
          <p:cNvSpPr/>
          <p:nvPr/>
        </p:nvSpPr>
        <p:spPr>
          <a:xfrm>
            <a:off x="102888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2" name="TextBox 14"/>
          <p:cNvSpPr/>
          <p:nvPr/>
        </p:nvSpPr>
        <p:spPr>
          <a:xfrm>
            <a:off x="528372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43" name="TextBox 6"/>
          <p:cNvSpPr/>
          <p:nvPr/>
        </p:nvSpPr>
        <p:spPr>
          <a:xfrm>
            <a:off x="1028880" y="10191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 is </a:t>
            </a:r>
            <a:r>
              <a:rPr b="1" lang="en-US" sz="9000" spc="-1" strike="noStrike">
                <a:solidFill>
                  <a:srgbClr val="ffbd00"/>
                </a:solidFill>
                <a:latin typeface="Century Gothic Paneuropean Heavy"/>
                <a:ea typeface="Century Gothic Paneuropean Heavy"/>
              </a:rPr>
              <a:t>at Stake?</a:t>
            </a:r>
            <a:endParaRPr b="0" lang="en-US" sz="9000" spc="-1" strike="noStrike">
              <a:solidFill>
                <a:srgbClr val="ffffff"/>
              </a:solidFill>
              <a:latin typeface="Arial"/>
            </a:endParaRPr>
          </a:p>
        </p:txBody>
      </p:sp>
      <p:sp>
        <p:nvSpPr>
          <p:cNvPr id="144" name="TextBox 7"/>
          <p:cNvSpPr/>
          <p:nvPr/>
        </p:nvSpPr>
        <p:spPr>
          <a:xfrm>
            <a:off x="1028880" y="400536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45" name="TextBox 8"/>
          <p:cNvSpPr/>
          <p:nvPr/>
        </p:nvSpPr>
        <p:spPr>
          <a:xfrm>
            <a:off x="5283720" y="400536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46" name="TextBox 9"/>
          <p:cNvSpPr/>
          <p:nvPr/>
        </p:nvSpPr>
        <p:spPr>
          <a:xfrm>
            <a:off x="1028880" y="699840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47" name="TextBox 10"/>
          <p:cNvSpPr/>
          <p:nvPr/>
        </p:nvSpPr>
        <p:spPr>
          <a:xfrm>
            <a:off x="5283720" y="69984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48" name="TextBox 11"/>
          <p:cNvSpPr/>
          <p:nvPr/>
        </p:nvSpPr>
        <p:spPr>
          <a:xfrm>
            <a:off x="102888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9" name="TextBox 12"/>
          <p:cNvSpPr/>
          <p:nvPr/>
        </p:nvSpPr>
        <p:spPr>
          <a:xfrm>
            <a:off x="5283720" y="4686840"/>
            <a:ext cx="3869280" cy="3839040"/>
          </a:xfrm>
          <a:prstGeom prst="rect">
            <a:avLst/>
          </a:prstGeom>
          <a:noFill/>
          <a:ln w="0">
            <a:noFill/>
          </a:ln>
        </p:spPr>
        <p:style>
          <a:lnRef idx="0"/>
          <a:fillRef idx="0"/>
          <a:effectRef idx="0"/>
          <a:fontRef idx="minor"/>
        </p:style>
        <p:txBody>
          <a:bodyPr lIns="0" rIns="0" tIns="0" bIns="0" anchor="t">
            <a:spAutoFit/>
          </a:bodyPr>
          <a:p>
            <a:pPr defTabSz="914400">
              <a:lnSpc>
                <a:spcPts val="3359"/>
              </a:lnSpc>
            </a:pPr>
            <a:r>
              <a:rPr b="0" lang="en-US" sz="2400" spc="-1" strike="noStrike">
                <a:solidFill>
                  <a:srgbClr val="ffffff"/>
                </a:solidFill>
                <a:latin typeface="Open Sauce"/>
                <a:ea typeface="Open Sauce"/>
              </a:rPr>
              <a:t>Elaborate on what you want to discuss. </a:t>
            </a:r>
            <a:br>
              <a:rPr sz="2400"/>
            </a:br>
            <a:br>
              <a:rPr sz="2400"/>
            </a:br>
            <a:r>
              <a:rPr b="0" lang="en-US" sz="2400" spc="-1" strike="noStrike">
                <a:solidFill>
                  <a:srgbClr val="ffffff"/>
                </a:solidFill>
                <a:latin typeface="Open Sauce"/>
                <a:ea typeface="Open Sauce"/>
              </a:rPr>
              <a:t>https://arstechnica.com/space/2025/11/landing-postponed-for-chinese-astronauts-after-suspected-space-debris-strike/</a:t>
            </a:r>
            <a:endParaRPr b="0" lang="en-US" sz="2400" spc="-1" strike="noStrike">
              <a:solidFill>
                <a:srgbClr val="ffffff"/>
              </a:solidFill>
              <a:latin typeface="Arial"/>
            </a:endParaRPr>
          </a:p>
        </p:txBody>
      </p:sp>
      <p:sp>
        <p:nvSpPr>
          <p:cNvPr id="150" name="TextBox 13"/>
          <p:cNvSpPr/>
          <p:nvPr/>
        </p:nvSpPr>
        <p:spPr>
          <a:xfrm>
            <a:off x="102888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1" name="TextBox 14"/>
          <p:cNvSpPr/>
          <p:nvPr/>
        </p:nvSpPr>
        <p:spPr>
          <a:xfrm>
            <a:off x="528372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2" name="TextBox 1"/>
          <p:cNvSpPr/>
          <p:nvPr/>
        </p:nvSpPr>
        <p:spPr>
          <a:xfrm>
            <a:off x="10122480" y="2723400"/>
            <a:ext cx="7725960" cy="5850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800" spc="-1" strike="noStrike">
                <a:solidFill>
                  <a:schemeClr val="lt1"/>
                </a:solidFill>
                <a:latin typeface="Calibri"/>
              </a:rPr>
              <a:t>1. Disruption of Communication Networks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Satellites form the backbone of global communication. GPS navigation, internet services, television broadcasting, and emergency response systems all depend on them. A dense debris field could wipe out this critical infrastructure, plunging the world into a technological dark age.</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2. Threat to Space Exploration</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A debris-filled orbit would make it nearly impossible to launch spacecraft. This could halt scientific missions, including plans to explore Mars and beyond. Even vital operations like resupplying the International Space Station (ISS) could be jeopardized.</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3. Economic Catastrophe</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The global space industry, worth over </a:t>
            </a:r>
            <a:r>
              <a:rPr b="1" lang="en-GB" sz="1800" spc="-1" strike="noStrike">
                <a:solidFill>
                  <a:schemeClr val="lt1"/>
                </a:solidFill>
                <a:latin typeface="Calibri"/>
              </a:rPr>
              <a:t>$400 billion</a:t>
            </a:r>
            <a:r>
              <a:rPr b="0" lang="en-GB" sz="1800" spc="-1" strike="noStrike">
                <a:solidFill>
                  <a:schemeClr val="lt1"/>
                </a:solidFill>
                <a:latin typeface="Calibri"/>
              </a:rPr>
              <a:t>, would face devastating losses. Industries relying on satellite technology—like telecommunications, agriculture, and finance—would also suffer severe setbacks, causing a domino effect in the global economy.</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4. Military and National Security Risks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Many nations rely on satellites for surveillance and defense. Losing these capabilities could lead to geopolitical instability and increased vulnerability to cyber or physical threats.</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53" name="TextBox 6"/>
          <p:cNvSpPr/>
          <p:nvPr/>
        </p:nvSpPr>
        <p:spPr>
          <a:xfrm>
            <a:off x="1028880" y="10191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Stop it </a:t>
            </a:r>
            <a:r>
              <a:rPr b="1" lang="en-US" sz="9000" spc="-1" strike="noStrike">
                <a:solidFill>
                  <a:srgbClr val="ffbd00"/>
                </a:solidFill>
                <a:latin typeface="Century Gothic Paneuropean Heavy"/>
                <a:ea typeface="Century Gothic Paneuropean Heavy"/>
              </a:rPr>
              <a:t>and Tidy up</a:t>
            </a:r>
            <a:endParaRPr b="0" lang="en-US" sz="9000" spc="-1" strike="noStrike">
              <a:solidFill>
                <a:srgbClr val="ffffff"/>
              </a:solidFill>
              <a:latin typeface="Arial"/>
            </a:endParaRPr>
          </a:p>
        </p:txBody>
      </p:sp>
      <p:sp>
        <p:nvSpPr>
          <p:cNvPr id="154" name="TextBox 7"/>
          <p:cNvSpPr/>
          <p:nvPr/>
        </p:nvSpPr>
        <p:spPr>
          <a:xfrm>
            <a:off x="1028880" y="400536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55" name="TextBox 8"/>
          <p:cNvSpPr/>
          <p:nvPr/>
        </p:nvSpPr>
        <p:spPr>
          <a:xfrm>
            <a:off x="5283720" y="400536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56" name="TextBox 9"/>
          <p:cNvSpPr/>
          <p:nvPr/>
        </p:nvSpPr>
        <p:spPr>
          <a:xfrm>
            <a:off x="1028880" y="699840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57" name="TextBox 10"/>
          <p:cNvSpPr/>
          <p:nvPr/>
        </p:nvSpPr>
        <p:spPr>
          <a:xfrm>
            <a:off x="5283720" y="69984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58" name="TextBox 11"/>
          <p:cNvSpPr/>
          <p:nvPr/>
        </p:nvSpPr>
        <p:spPr>
          <a:xfrm>
            <a:off x="102888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9" name="TextBox 12"/>
          <p:cNvSpPr/>
          <p:nvPr/>
        </p:nvSpPr>
        <p:spPr>
          <a:xfrm>
            <a:off x="528372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0" name="TextBox 13"/>
          <p:cNvSpPr/>
          <p:nvPr/>
        </p:nvSpPr>
        <p:spPr>
          <a:xfrm>
            <a:off x="102888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1" name="TextBox 14"/>
          <p:cNvSpPr/>
          <p:nvPr/>
        </p:nvSpPr>
        <p:spPr>
          <a:xfrm>
            <a:off x="528372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162" name="Group 6"/>
          <p:cNvGrpSpPr/>
          <p:nvPr/>
        </p:nvGrpSpPr>
        <p:grpSpPr>
          <a:xfrm>
            <a:off x="7492320" y="3423240"/>
            <a:ext cx="2924640" cy="2924640"/>
            <a:chOff x="7492320" y="3423240"/>
            <a:chExt cx="2924640" cy="2924640"/>
          </a:xfrm>
        </p:grpSpPr>
        <p:sp>
          <p:nvSpPr>
            <p:cNvPr id="163" name="Freeform 7"/>
            <p:cNvSpPr/>
            <p:nvPr/>
          </p:nvSpPr>
          <p:spPr>
            <a:xfrm>
              <a:off x="7492320" y="3423240"/>
              <a:ext cx="2924640" cy="2924640"/>
            </a:xfrm>
            <a:custGeom>
              <a:avLst/>
              <a:gdLst>
                <a:gd name="textAreaLeft" fmla="*/ 0 w 2924640"/>
                <a:gd name="textAreaRight" fmla="*/ 2926080 w 2924640"/>
                <a:gd name="textAreaTop" fmla="*/ 0 h 2924640"/>
                <a:gd name="textAreaBottom" fmla="*/ 2926080 h 292464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64" name="Group 8"/>
          <p:cNvGrpSpPr/>
          <p:nvPr/>
        </p:nvGrpSpPr>
        <p:grpSpPr>
          <a:xfrm>
            <a:off x="3193920" y="3423240"/>
            <a:ext cx="2924640" cy="2924640"/>
            <a:chOff x="3193920" y="3423240"/>
            <a:chExt cx="2924640" cy="2924640"/>
          </a:xfrm>
        </p:grpSpPr>
        <p:sp>
          <p:nvSpPr>
            <p:cNvPr id="165" name="Freeform 9"/>
            <p:cNvSpPr/>
            <p:nvPr/>
          </p:nvSpPr>
          <p:spPr>
            <a:xfrm>
              <a:off x="3193920" y="3423240"/>
              <a:ext cx="2924640" cy="2924640"/>
            </a:xfrm>
            <a:custGeom>
              <a:avLst/>
              <a:gdLst>
                <a:gd name="textAreaLeft" fmla="*/ 0 w 2924640"/>
                <a:gd name="textAreaRight" fmla="*/ 2926080 w 2924640"/>
                <a:gd name="textAreaTop" fmla="*/ 0 h 2924640"/>
                <a:gd name="textAreaBottom" fmla="*/ 2926080 h 292464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66" name="Group 10"/>
          <p:cNvGrpSpPr/>
          <p:nvPr/>
        </p:nvGrpSpPr>
        <p:grpSpPr>
          <a:xfrm>
            <a:off x="11790720" y="3423240"/>
            <a:ext cx="2924640" cy="2924640"/>
            <a:chOff x="11790720" y="3423240"/>
            <a:chExt cx="2924640" cy="2924640"/>
          </a:xfrm>
        </p:grpSpPr>
        <p:sp>
          <p:nvSpPr>
            <p:cNvPr id="167" name="Freeform 11"/>
            <p:cNvSpPr/>
            <p:nvPr/>
          </p:nvSpPr>
          <p:spPr>
            <a:xfrm>
              <a:off x="11790720" y="3423240"/>
              <a:ext cx="2924640" cy="2924640"/>
            </a:xfrm>
            <a:custGeom>
              <a:avLst/>
              <a:gdLst>
                <a:gd name="textAreaLeft" fmla="*/ 0 w 2924640"/>
                <a:gd name="textAreaRight" fmla="*/ 2926080 w 2924640"/>
                <a:gd name="textAreaTop" fmla="*/ 0 h 2924640"/>
                <a:gd name="textAreaBottom" fmla="*/ 2926080 h 292464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sp>
        <p:nvSpPr>
          <p:cNvPr id="168" name="TextBox 12"/>
          <p:cNvSpPr/>
          <p:nvPr/>
        </p:nvSpPr>
        <p:spPr>
          <a:xfrm>
            <a:off x="890280" y="1019160"/>
            <a:ext cx="16506000" cy="13712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tabLst>
                <a:tab algn="l" pos="0"/>
              </a:tabLst>
            </a:pPr>
            <a:r>
              <a:rPr b="1" lang="en-US" sz="9000" spc="-378" strike="noStrike">
                <a:solidFill>
                  <a:srgbClr val="ffffff"/>
                </a:solidFill>
                <a:latin typeface="Century Gothic Paneuropean Heavy"/>
                <a:ea typeface="Century Gothic Paneuropean Heavy"/>
              </a:rPr>
              <a:t>Key </a:t>
            </a:r>
            <a:r>
              <a:rPr b="1" lang="en-US" sz="9000" spc="-378" strike="noStrike">
                <a:solidFill>
                  <a:srgbClr val="ffbd00"/>
                </a:solidFill>
                <a:latin typeface="Century Gothic Paneuropean Heavy"/>
                <a:ea typeface="Century Gothic Paneuropean Heavy"/>
              </a:rPr>
              <a:t>figures</a:t>
            </a:r>
            <a:endParaRPr b="0" lang="en-US" sz="9000" spc="-1" strike="noStrike">
              <a:solidFill>
                <a:srgbClr val="ffffff"/>
              </a:solidFill>
              <a:latin typeface="Arial"/>
            </a:endParaRPr>
          </a:p>
        </p:txBody>
      </p:sp>
      <p:sp>
        <p:nvSpPr>
          <p:cNvPr id="169" name="TextBox 15"/>
          <p:cNvSpPr/>
          <p:nvPr/>
        </p:nvSpPr>
        <p:spPr>
          <a:xfrm>
            <a:off x="7302240" y="6819480"/>
            <a:ext cx="330480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70" name="TextBox 16"/>
          <p:cNvSpPr/>
          <p:nvPr/>
        </p:nvSpPr>
        <p:spPr>
          <a:xfrm>
            <a:off x="7302240" y="7610400"/>
            <a:ext cx="330480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1" name="TextBox 17"/>
          <p:cNvSpPr/>
          <p:nvPr/>
        </p:nvSpPr>
        <p:spPr>
          <a:xfrm>
            <a:off x="3003840" y="6819480"/>
            <a:ext cx="330480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72" name="TextBox 18"/>
          <p:cNvSpPr/>
          <p:nvPr/>
        </p:nvSpPr>
        <p:spPr>
          <a:xfrm>
            <a:off x="3003840" y="7610400"/>
            <a:ext cx="330480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3" name="TextBox 19"/>
          <p:cNvSpPr/>
          <p:nvPr/>
        </p:nvSpPr>
        <p:spPr>
          <a:xfrm>
            <a:off x="11600640" y="6819480"/>
            <a:ext cx="330480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74" name="TextBox 20"/>
          <p:cNvSpPr/>
          <p:nvPr/>
        </p:nvSpPr>
        <p:spPr>
          <a:xfrm>
            <a:off x="11600640" y="7610400"/>
            <a:ext cx="330480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75" name="TextBox 6"/>
          <p:cNvSpPr/>
          <p:nvPr/>
        </p:nvSpPr>
        <p:spPr>
          <a:xfrm>
            <a:off x="1028880" y="1019160"/>
            <a:ext cx="1428624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In </a:t>
            </a:r>
            <a:r>
              <a:rPr b="1" lang="en-US" sz="9000" spc="-1" strike="noStrike">
                <a:solidFill>
                  <a:srgbClr val="ffbd00"/>
                </a:solidFill>
                <a:latin typeface="Century Gothic Paneuropean Heavy"/>
                <a:ea typeface="Century Gothic Paneuropean Heavy"/>
              </a:rPr>
              <a:t>Conclusion</a:t>
            </a:r>
            <a:endParaRPr b="0" lang="en-US" sz="9000" spc="-1" strike="noStrike">
              <a:solidFill>
                <a:srgbClr val="ffffff"/>
              </a:solidFill>
              <a:latin typeface="Arial"/>
            </a:endParaRPr>
          </a:p>
        </p:txBody>
      </p:sp>
      <p:sp>
        <p:nvSpPr>
          <p:cNvPr id="176" name="TextBox 7"/>
          <p:cNvSpPr/>
          <p:nvPr/>
        </p:nvSpPr>
        <p:spPr>
          <a:xfrm>
            <a:off x="1028880" y="400536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77" name="TextBox 8"/>
          <p:cNvSpPr/>
          <p:nvPr/>
        </p:nvSpPr>
        <p:spPr>
          <a:xfrm>
            <a:off x="5283720" y="400536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78" name="TextBox 9"/>
          <p:cNvSpPr/>
          <p:nvPr/>
        </p:nvSpPr>
        <p:spPr>
          <a:xfrm>
            <a:off x="1028880" y="6998400"/>
            <a:ext cx="3869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79" name="TextBox 10"/>
          <p:cNvSpPr/>
          <p:nvPr/>
        </p:nvSpPr>
        <p:spPr>
          <a:xfrm>
            <a:off x="5283720" y="6998400"/>
            <a:ext cx="4031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80" name="TextBox 11"/>
          <p:cNvSpPr/>
          <p:nvPr/>
        </p:nvSpPr>
        <p:spPr>
          <a:xfrm>
            <a:off x="102888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1" name="TextBox 12"/>
          <p:cNvSpPr/>
          <p:nvPr/>
        </p:nvSpPr>
        <p:spPr>
          <a:xfrm>
            <a:off x="5283720" y="4686840"/>
            <a:ext cx="38692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2" name="TextBox 13"/>
          <p:cNvSpPr/>
          <p:nvPr/>
        </p:nvSpPr>
        <p:spPr>
          <a:xfrm>
            <a:off x="102888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3" name="TextBox 14"/>
          <p:cNvSpPr/>
          <p:nvPr/>
        </p:nvSpPr>
        <p:spPr>
          <a:xfrm>
            <a:off x="5283720" y="7679880"/>
            <a:ext cx="3978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584</TotalTime>
  <Application>LibreOffice/24.2.7.2$Linux_X86_64 LibreOffice_project/420$Build-2</Application>
  <AppVersion>15.0000</AppVersion>
  <Words>598</Words>
  <Paragraphs>85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DAG3TWXvXT0</dc:identifier>
  <dc:language>en-US</dc:language>
  <cp:lastModifiedBy/>
  <dcterms:modified xsi:type="dcterms:W3CDTF">2025-11-26T23:47:46Z</dcterms:modified>
  <cp:revision>12</cp:revision>
  <dc:subject/>
  <dc:title>From Launch to Litter: Orbital Overload</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13</vt:i4>
  </property>
</Properties>
</file>