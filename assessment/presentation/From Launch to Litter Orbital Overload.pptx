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2.png" ContentType="image/png"/>
  <Override PartName="/ppt/media/image3.png" ContentType="image/png"/>
  <Override PartName="/ppt/media/image8.svg" ContentType="image/svg"/>
  <Override PartName="/ppt/media/image13.png" ContentType="image/png"/>
  <Override PartName="/ppt/media/image17.png" ContentType="image/png"/>
  <Override PartName="/ppt/media/image15.png" ContentType="image/png"/>
  <Override PartName="/ppt/media/image1.jpeg" ContentType="image/jpeg"/>
  <Override PartName="/ppt/media/image10.png" ContentType="image/png"/>
  <Override PartName="/ppt/media/image4.svg" ContentType="image/svg"/>
  <Override PartName="/ppt/media/image7.png" ContentType="image/png"/>
  <Override PartName="/ppt/media/image16.png" ContentType="image/png"/>
  <Override PartName="/ppt/media/image11.png" ContentType="image/png"/>
  <Override PartName="/ppt/media/image2.png" ContentType="image/png"/>
  <Override PartName="/ppt/media/image14.png" ContentType="image/png"/>
  <Override PartName="/ppt/media/image5.png" ContentType="image/png"/>
  <Override PartName="/ppt/media/image6.svg" ContentType="image/svg"/>
  <Override PartName="/ppt/media/image9.png" ContentType="image/png"/>
  <Override PartName="/ppt/media/image18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</p:sldIdLst>
  <p:sldSz cx="18288000" cy="10287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CA267AE-E5A3-4F2B-919B-273D8FEFFDB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24E5109-4A08-4923-938C-F17FA25AE9E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A30A0DEC-E8EC-4C81-BCDB-16686FC212D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39441D2B-C001-4ED0-975B-15C20562FE4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5CC43A37-ABA6-4BEF-86A9-8F4E67DF8EE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3C14854A-2B45-4F07-9DCE-929A3D6FFD5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C4BDF325-5E79-4BC9-B219-D44F946A883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2E68A4FB-89EB-46DC-B858-CA38E59CE08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39EF1F5D-155E-48B4-8C60-7A0338674FB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F72AE252-42CC-4696-A42D-9704070ECFC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2B068492-FF6A-410F-A7D6-64FBDFE9379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2F2DF88-9B2C-4455-9911-78685108DEE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7B54AD1-4B96-499F-B4EC-D114FFEDD38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B836522-343A-44BA-822A-A67E74FCBC7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127B1A8-EEF2-4ECB-AA95-43EF66F929B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373975-94C2-4FF6-BE59-EC1A1341FC1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3A0E49E-FE22-4EC3-9771-DE197B3C40F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8F9B95-4131-4A1F-B402-776F670E0E0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8CBC18F-4C6D-426B-B530-B54BA152917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B52C89D-D271-4194-B92C-A9777EF9608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5A54B93-CEC8-4400-94B9-7C13CB89265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B4D6BF-8E15-486A-B68F-4A4A718FE34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svg"/><Relationship Id="rId3" Type="http://schemas.openxmlformats.org/officeDocument/2006/relationships/image" Target="../media/image7.png"/><Relationship Id="rId4" Type="http://schemas.openxmlformats.org/officeDocument/2006/relationships/image" Target="../media/image8.sv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image" Target="../media/image7.png"/><Relationship Id="rId12" Type="http://schemas.openxmlformats.org/officeDocument/2006/relationships/image" Target="../media/image8.svg"/><Relationship Id="rId13" Type="http://schemas.openxmlformats.org/officeDocument/2006/relationships/image" Target="../media/image7.png"/><Relationship Id="rId14" Type="http://schemas.openxmlformats.org/officeDocument/2006/relationships/image" Target="../media/image8.svg"/><Relationship Id="rId15" Type="http://schemas.openxmlformats.org/officeDocument/2006/relationships/image" Target="../media/image7.png"/><Relationship Id="rId16" Type="http://schemas.openxmlformats.org/officeDocument/2006/relationships/image" Target="../media/image8.svg"/><Relationship Id="rId17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roup 2"/>
          <p:cNvGrpSpPr/>
          <p:nvPr/>
        </p:nvGrpSpPr>
        <p:grpSpPr>
          <a:xfrm>
            <a:off x="0" y="0"/>
            <a:ext cx="18287640" cy="10286640"/>
            <a:chOff x="0" y="0"/>
            <a:chExt cx="18287640" cy="10286640"/>
          </a:xfrm>
        </p:grpSpPr>
        <p:sp>
          <p:nvSpPr>
            <p:cNvPr id="68" name="Freeform 3"/>
            <p:cNvSpPr/>
            <p:nvPr/>
          </p:nvSpPr>
          <p:spPr>
            <a:xfrm>
              <a:off x="0" y="0"/>
              <a:ext cx="18287640" cy="10286640"/>
            </a:xfrm>
            <a:custGeom>
              <a:avLst/>
              <a:gdLst>
                <a:gd name="textAreaLeft" fmla="*/ 0 w 18287640"/>
                <a:gd name="textAreaRight" fmla="*/ 18288000 w 18287640"/>
                <a:gd name="textAreaTop" fmla="*/ 0 h 10286640"/>
                <a:gd name="textAreaBottom" fmla="*/ 10287000 h 10286640"/>
              </a:gdLst>
              <a:ahLst/>
              <a:rect l="textAreaLeft" t="textAreaTop" r="textAreaRight" b="textAreaBottom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grpSp>
          <p:nvGrpSpPr>
            <p:cNvPr id="69" name="Group 4"/>
            <p:cNvGrpSpPr/>
            <p:nvPr/>
          </p:nvGrpSpPr>
          <p:grpSpPr>
            <a:xfrm>
              <a:off x="13716000" y="1589760"/>
              <a:ext cx="1333080" cy="1850040"/>
              <a:chOff x="13716000" y="1589760"/>
              <a:chExt cx="1333080" cy="1850040"/>
            </a:xfrm>
          </p:grpSpPr>
          <p:sp>
            <p:nvSpPr>
              <p:cNvPr id="70" name="Freeform 5"/>
              <p:cNvSpPr/>
              <p:nvPr/>
            </p:nvSpPr>
            <p:spPr>
              <a:xfrm>
                <a:off x="13716000" y="1770480"/>
                <a:ext cx="1333080" cy="1669320"/>
              </a:xfrm>
              <a:custGeom>
                <a:avLst/>
                <a:gdLst>
                  <a:gd name="textAreaLeft" fmla="*/ 0 w 1333080"/>
                  <a:gd name="textAreaRight" fmla="*/ 1333440 w 1333080"/>
                  <a:gd name="textAreaTop" fmla="*/ 0 h 1669320"/>
                  <a:gd name="textAreaBottom" fmla="*/ 1669680 h 1669320"/>
                </a:gdLst>
                <a:ahLst/>
                <a:rect l="textAreaLeft" t="textAreaTop" r="textAreaRight" b="textAreaBottom"/>
                <a:pathLst>
                  <a:path w="351210" h="439750">
                    <a:moveTo>
                      <a:pt x="0" y="0"/>
                    </a:moveTo>
                    <a:lnTo>
                      <a:pt x="351210" y="0"/>
                    </a:lnTo>
                    <a:lnTo>
                      <a:pt x="351210" y="439750"/>
                    </a:lnTo>
                    <a:lnTo>
                      <a:pt x="0" y="43975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71" name="TextBox 6"/>
              <p:cNvSpPr/>
              <p:nvPr/>
            </p:nvSpPr>
            <p:spPr>
              <a:xfrm>
                <a:off x="13716000" y="1589760"/>
                <a:ext cx="1333080" cy="18500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0760" rIns="50760" tIns="50760" bIns="50760" anchor="ctr">
                <a:noAutofit/>
              </a:bodyPr>
              <a:p>
                <a:pPr algn="ctr" defTabSz="914400">
                  <a:lnSpc>
                    <a:spcPts val="3359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</p:grpSp>
      </p:grpSp>
      <p:sp>
        <p:nvSpPr>
          <p:cNvPr id="72" name="TextBox 7"/>
          <p:cNvSpPr/>
          <p:nvPr/>
        </p:nvSpPr>
        <p:spPr>
          <a:xfrm>
            <a:off x="4486320" y="593640"/>
            <a:ext cx="9315000" cy="548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From Launch 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to Litter: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Orbital Overload 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Freeform 8"/>
          <p:cNvSpPr/>
          <p:nvPr/>
        </p:nvSpPr>
        <p:spPr>
          <a:xfrm>
            <a:off x="8751960" y="4398840"/>
            <a:ext cx="10918080" cy="4612680"/>
          </a:xfrm>
          <a:custGeom>
            <a:avLst/>
            <a:gdLst>
              <a:gd name="textAreaLeft" fmla="*/ 0 w 10918080"/>
              <a:gd name="textAreaRight" fmla="*/ 10918440 w 10918080"/>
              <a:gd name="textAreaTop" fmla="*/ 0 h 4612680"/>
              <a:gd name="textAreaBottom" fmla="*/ 4613040 h 4612680"/>
            </a:gdLst>
            <a:ahLst/>
            <a:rect l="textAreaLeft" t="textAreaTop" r="textAreaRight" b="textAreaBottom"/>
            <a:pathLst>
              <a:path w="10918450" h="4613045">
                <a:moveTo>
                  <a:pt x="0" y="0"/>
                </a:moveTo>
                <a:lnTo>
                  <a:pt x="10918450" y="0"/>
                </a:lnTo>
                <a:lnTo>
                  <a:pt x="10918450" y="4613045"/>
                </a:lnTo>
                <a:lnTo>
                  <a:pt x="0" y="461304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4" name="TextBox 9"/>
          <p:cNvSpPr/>
          <p:nvPr/>
        </p:nvSpPr>
        <p:spPr>
          <a:xfrm>
            <a:off x="15163920" y="9487080"/>
            <a:ext cx="3123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pc="-1" strike="noStrike">
                <a:solidFill>
                  <a:srgbClr val="9ad3f3"/>
                </a:solidFill>
                <a:latin typeface="Century Gothic Paneuropean Heavy"/>
              </a:rPr>
              <a:t>Tom Rowan, ST20285213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en-US" sz="1800" spc="-1" strike="noStrike">
                <a:solidFill>
                  <a:srgbClr val="9ad3f3"/>
                </a:solidFill>
                <a:latin typeface="Century Gothic Paneuropean Heavy"/>
              </a:rPr>
              <a:t>DAT5001_S2_25 PRES1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2"/>
          <p:cNvSpPr/>
          <p:nvPr/>
        </p:nvSpPr>
        <p:spPr>
          <a:xfrm>
            <a:off x="890280" y="1028880"/>
            <a:ext cx="16507080" cy="134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0559"/>
              </a:lnSpc>
              <a:tabLst>
                <a:tab algn="l" pos="0"/>
              </a:tabLst>
            </a:pPr>
            <a:r>
              <a:rPr b="1" lang="en-US" sz="8800" spc="-369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Table Of </a:t>
            </a:r>
            <a:r>
              <a:rPr b="1" lang="en-US" sz="8800" spc="-369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Contents</a:t>
            </a:r>
            <a:endParaRPr b="0" lang="en-US" sz="8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Box 3"/>
          <p:cNvSpPr/>
          <p:nvPr/>
        </p:nvSpPr>
        <p:spPr>
          <a:xfrm>
            <a:off x="7848720" y="7353360"/>
            <a:ext cx="368640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Using data to explain the problem.</a:t>
            </a:r>
            <a:br>
              <a:rPr sz="2400"/>
            </a:b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Hint: it’s getting worse!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Box 4"/>
          <p:cNvSpPr/>
          <p:nvPr/>
        </p:nvSpPr>
        <p:spPr>
          <a:xfrm>
            <a:off x="7848720" y="6591240"/>
            <a:ext cx="3686400" cy="97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bd00"/>
                </a:solidFill>
                <a:latin typeface="Open Sauce Semi-Bold"/>
                <a:ea typeface="Open Sauce Semi-Bold"/>
              </a:rPr>
              <a:t>Exploring the Data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Freeform 5"/>
          <p:cNvSpPr/>
          <p:nvPr/>
        </p:nvSpPr>
        <p:spPr>
          <a:xfrm>
            <a:off x="8336520" y="3328560"/>
            <a:ext cx="2322000" cy="2711160"/>
          </a:xfrm>
          <a:custGeom>
            <a:avLst/>
            <a:gdLst>
              <a:gd name="textAreaLeft" fmla="*/ 0 w 2322000"/>
              <a:gd name="textAreaRight" fmla="*/ 2322360 w 2322000"/>
              <a:gd name="textAreaTop" fmla="*/ 0 h 2711160"/>
              <a:gd name="textAreaBottom" fmla="*/ 2711520 h 2711160"/>
            </a:gdLst>
            <a:ahLst/>
            <a:rect l="textAreaLeft" t="textAreaTop" r="textAreaRight" b="textAreaBottom"/>
            <a:pathLst>
              <a:path w="2322193" h="2711690">
                <a:moveTo>
                  <a:pt x="0" y="0"/>
                </a:moveTo>
                <a:lnTo>
                  <a:pt x="2322193" y="0"/>
                </a:lnTo>
                <a:lnTo>
                  <a:pt x="2322193" y="2711690"/>
                </a:lnTo>
                <a:lnTo>
                  <a:pt x="0" y="271169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9" name="TextBox 6"/>
          <p:cNvSpPr/>
          <p:nvPr/>
        </p:nvSpPr>
        <p:spPr>
          <a:xfrm>
            <a:off x="12313800" y="6606000"/>
            <a:ext cx="37940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bd00"/>
                </a:solidFill>
                <a:latin typeface="Open Sauce Semi-Bold"/>
                <a:ea typeface="Open Sauce Semi-Bold"/>
              </a:rPr>
              <a:t>The Future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Box 7"/>
          <p:cNvSpPr/>
          <p:nvPr/>
        </p:nvSpPr>
        <p:spPr>
          <a:xfrm>
            <a:off x="12496680" y="7353360"/>
            <a:ext cx="330588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How can we avoid a disaster?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Freeform 8"/>
          <p:cNvSpPr/>
          <p:nvPr/>
        </p:nvSpPr>
        <p:spPr>
          <a:xfrm>
            <a:off x="12557880" y="3328560"/>
            <a:ext cx="2761560" cy="2711160"/>
          </a:xfrm>
          <a:custGeom>
            <a:avLst/>
            <a:gdLst>
              <a:gd name="textAreaLeft" fmla="*/ 0 w 2761560"/>
              <a:gd name="textAreaRight" fmla="*/ 2761920 w 2761560"/>
              <a:gd name="textAreaTop" fmla="*/ 0 h 2711160"/>
              <a:gd name="textAreaBottom" fmla="*/ 2711520 h 2711160"/>
            </a:gdLst>
            <a:ahLst/>
            <a:rect l="textAreaLeft" t="textAreaTop" r="textAreaRight" b="textAreaBottom"/>
            <a:pathLst>
              <a:path w="2761907" h="2711690">
                <a:moveTo>
                  <a:pt x="0" y="0"/>
                </a:moveTo>
                <a:lnTo>
                  <a:pt x="2761906" y="0"/>
                </a:lnTo>
                <a:lnTo>
                  <a:pt x="2761906" y="2711690"/>
                </a:lnTo>
                <a:lnTo>
                  <a:pt x="0" y="271169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82" name="Group 9"/>
          <p:cNvGrpSpPr/>
          <p:nvPr/>
        </p:nvGrpSpPr>
        <p:grpSpPr>
          <a:xfrm>
            <a:off x="2902680" y="3444120"/>
            <a:ext cx="3305880" cy="5670360"/>
            <a:chOff x="2902680" y="3444120"/>
            <a:chExt cx="3305880" cy="5670360"/>
          </a:xfrm>
        </p:grpSpPr>
        <p:sp>
          <p:nvSpPr>
            <p:cNvPr id="83" name="Freeform 10"/>
            <p:cNvSpPr/>
            <p:nvPr/>
          </p:nvSpPr>
          <p:spPr>
            <a:xfrm>
              <a:off x="2902680" y="3444120"/>
              <a:ext cx="2917800" cy="2917800"/>
            </a:xfrm>
            <a:custGeom>
              <a:avLst/>
              <a:gdLst>
                <a:gd name="textAreaLeft" fmla="*/ 0 w 2917800"/>
                <a:gd name="textAreaRight" fmla="*/ 2918160 w 2917800"/>
                <a:gd name="textAreaTop" fmla="*/ 0 h 2917800"/>
                <a:gd name="textAreaBottom" fmla="*/ 2918160 h 2917800"/>
              </a:gdLst>
              <a:ahLst/>
              <a:rect l="textAreaLeft" t="textAreaTop" r="textAreaRight" b="textAreaBottom"/>
              <a:pathLst>
                <a:path w="3891027" h="3891027">
                  <a:moveTo>
                    <a:pt x="0" y="0"/>
                  </a:moveTo>
                  <a:lnTo>
                    <a:pt x="3891027" y="0"/>
                  </a:lnTo>
                  <a:lnTo>
                    <a:pt x="3891027" y="3891027"/>
                  </a:lnTo>
                  <a:lnTo>
                    <a:pt x="0" y="3891027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84" name="TextBox 11"/>
            <p:cNvSpPr/>
            <p:nvPr/>
          </p:nvSpPr>
          <p:spPr>
            <a:xfrm>
              <a:off x="2902680" y="6606000"/>
              <a:ext cx="330588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ctr" defTabSz="914400">
                <a:lnSpc>
                  <a:spcPts val="3841"/>
                </a:lnSpc>
                <a:tabLst>
                  <a:tab algn="l" pos="0"/>
                </a:tabLst>
              </a:pPr>
              <a:r>
                <a:rPr b="1" lang="en-US" sz="3200" spc="-1" strike="noStrike">
                  <a:solidFill>
                    <a:srgbClr val="ffbd00"/>
                  </a:solidFill>
                  <a:latin typeface="Open Sauce Semi-Bold"/>
                  <a:ea typeface="Open Sauce Semi-Bold"/>
                </a:rPr>
                <a:t>Introduction</a:t>
              </a:r>
              <a:endParaRPr b="0" lang="en-US" sz="3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5" name="TextBox 12"/>
            <p:cNvSpPr/>
            <p:nvPr/>
          </p:nvSpPr>
          <p:spPr>
            <a:xfrm>
              <a:off x="2902680" y="7408440"/>
              <a:ext cx="3305880" cy="1706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ctr" defTabSz="914400">
                <a:lnSpc>
                  <a:spcPts val="3359"/>
                </a:lnSpc>
                <a:tabLst>
                  <a:tab algn="l" pos="0"/>
                </a:tabLst>
              </a:pPr>
              <a:r>
                <a:rPr b="0" lang="en-US" sz="2400" spc="-1" strike="noStrike">
                  <a:solidFill>
                    <a:srgbClr val="ffffff"/>
                  </a:solidFill>
                  <a:latin typeface="Open Sauce"/>
                  <a:ea typeface="Open Sauce"/>
                </a:rPr>
                <a:t>Discussing the Kessler Syndrome, and its potential impact on civilization.</a:t>
              </a:r>
              <a:endParaRPr b="0" lang="en-US" sz="2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Freeform 10"/>
          <p:cNvSpPr/>
          <p:nvPr/>
        </p:nvSpPr>
        <p:spPr>
          <a:xfrm>
            <a:off x="12801600" y="6515280"/>
            <a:ext cx="1142640" cy="114264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7" name="Freeform 10"/>
          <p:cNvSpPr/>
          <p:nvPr/>
        </p:nvSpPr>
        <p:spPr>
          <a:xfrm>
            <a:off x="12801600" y="4305240"/>
            <a:ext cx="1142640" cy="114264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88" name="Group 53"/>
          <p:cNvGrpSpPr/>
          <p:nvPr/>
        </p:nvGrpSpPr>
        <p:grpSpPr>
          <a:xfrm>
            <a:off x="12649320" y="4610160"/>
            <a:ext cx="1218960" cy="3352320"/>
            <a:chOff x="12649320" y="4610160"/>
            <a:chExt cx="1218960" cy="3352320"/>
          </a:xfrm>
        </p:grpSpPr>
        <p:sp>
          <p:nvSpPr>
            <p:cNvPr id="89" name="Explosion: 8 Points 36"/>
            <p:cNvSpPr/>
            <p:nvPr/>
          </p:nvSpPr>
          <p:spPr>
            <a:xfrm>
              <a:off x="12649320" y="6819840"/>
              <a:ext cx="1218960" cy="1142640"/>
            </a:xfrm>
            <a:prstGeom prst="irregularSeal1">
              <a:avLst/>
            </a:prstGeom>
            <a:solidFill>
              <a:srgbClr val="ffbd00"/>
            </a:solidFill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0" name="Explosion: 8 Points 34"/>
            <p:cNvSpPr/>
            <p:nvPr/>
          </p:nvSpPr>
          <p:spPr>
            <a:xfrm>
              <a:off x="12649320" y="4610160"/>
              <a:ext cx="1218960" cy="1142640"/>
            </a:xfrm>
            <a:prstGeom prst="irregularSeal1">
              <a:avLst/>
            </a:prstGeom>
            <a:solidFill>
              <a:srgbClr val="ffbd00"/>
            </a:solidFill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91" name="TextBox 2"/>
          <p:cNvSpPr/>
          <p:nvPr/>
        </p:nvSpPr>
        <p:spPr>
          <a:xfrm>
            <a:off x="887040" y="731520"/>
            <a:ext cx="16507080" cy="134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0559"/>
              </a:lnSpc>
              <a:tabLst>
                <a:tab algn="l" pos="0"/>
              </a:tabLst>
            </a:pPr>
            <a:r>
              <a:rPr b="1" lang="en-US" sz="8800" spc="-369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What is the </a:t>
            </a:r>
            <a:r>
              <a:rPr b="1" lang="en-US" sz="8800" spc="-369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Kessler Syndrome?</a:t>
            </a:r>
            <a:endParaRPr b="0" lang="en-US" sz="8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Freeform 10"/>
          <p:cNvSpPr/>
          <p:nvPr/>
        </p:nvSpPr>
        <p:spPr>
          <a:xfrm>
            <a:off x="10515600" y="5295960"/>
            <a:ext cx="1142640" cy="114264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3" name="TextBox 7"/>
          <p:cNvSpPr/>
          <p:nvPr/>
        </p:nvSpPr>
        <p:spPr>
          <a:xfrm>
            <a:off x="1143000" y="3543480"/>
            <a:ext cx="38703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Collision Cascade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Box 11"/>
          <p:cNvSpPr/>
          <p:nvPr/>
        </p:nvSpPr>
        <p:spPr>
          <a:xfrm>
            <a:off x="1143000" y="4305240"/>
            <a:ext cx="5866920" cy="12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A scenario where satellite and/or space debris collisions cause a cascade effect, making low Earth orbit unusable.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Box 7"/>
          <p:cNvSpPr/>
          <p:nvPr/>
        </p:nvSpPr>
        <p:spPr>
          <a:xfrm>
            <a:off x="1143000" y="6743880"/>
            <a:ext cx="38703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Disaster Scenario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Box 11"/>
          <p:cNvSpPr/>
          <p:nvPr/>
        </p:nvSpPr>
        <p:spPr>
          <a:xfrm>
            <a:off x="1143000" y="7505640"/>
            <a:ext cx="609552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First identified in 1978 by Donald J. Kessler and Burton G. Cour-Palais.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Explosion: 8 Points 21"/>
          <p:cNvSpPr/>
          <p:nvPr/>
        </p:nvSpPr>
        <p:spPr>
          <a:xfrm>
            <a:off x="10363320" y="5600880"/>
            <a:ext cx="1218960" cy="1142640"/>
          </a:xfrm>
          <a:prstGeom prst="irregularSeal1">
            <a:avLst/>
          </a:prstGeom>
          <a:solidFill>
            <a:srgbClr val="ffbd00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" name="Freeform 10"/>
          <p:cNvSpPr/>
          <p:nvPr/>
        </p:nvSpPr>
        <p:spPr>
          <a:xfrm>
            <a:off x="7924680" y="5295960"/>
            <a:ext cx="1142640" cy="114264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9" name="Arrow: Right 24"/>
          <p:cNvSpPr/>
          <p:nvPr/>
        </p:nvSpPr>
        <p:spPr>
          <a:xfrm>
            <a:off x="9220320" y="5524560"/>
            <a:ext cx="1066320" cy="6854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f1a38"/>
          </a:solidFill>
          <a:ln>
            <a:solidFill>
              <a:srgbClr val="ffffff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" name="Freeform 10"/>
          <p:cNvSpPr/>
          <p:nvPr/>
        </p:nvSpPr>
        <p:spPr>
          <a:xfrm>
            <a:off x="15468480" y="4610160"/>
            <a:ext cx="1142640" cy="114264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1" name="Freeform 10"/>
          <p:cNvSpPr/>
          <p:nvPr/>
        </p:nvSpPr>
        <p:spPr>
          <a:xfrm>
            <a:off x="15468480" y="2933640"/>
            <a:ext cx="1142640" cy="114264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2" name="Freeform 10"/>
          <p:cNvSpPr/>
          <p:nvPr/>
        </p:nvSpPr>
        <p:spPr>
          <a:xfrm>
            <a:off x="15468480" y="8039160"/>
            <a:ext cx="1142640" cy="114264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3" name="Freeform 10"/>
          <p:cNvSpPr/>
          <p:nvPr/>
        </p:nvSpPr>
        <p:spPr>
          <a:xfrm>
            <a:off x="15468480" y="6362640"/>
            <a:ext cx="1142640" cy="114264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104" name="Group 55"/>
          <p:cNvGrpSpPr/>
          <p:nvPr/>
        </p:nvGrpSpPr>
        <p:grpSpPr>
          <a:xfrm>
            <a:off x="15316200" y="3238560"/>
            <a:ext cx="1218960" cy="6248160"/>
            <a:chOff x="15316200" y="3238560"/>
            <a:chExt cx="1218960" cy="6248160"/>
          </a:xfrm>
        </p:grpSpPr>
        <p:sp>
          <p:nvSpPr>
            <p:cNvPr id="105" name="Explosion: 8 Points 38"/>
            <p:cNvSpPr/>
            <p:nvPr/>
          </p:nvSpPr>
          <p:spPr>
            <a:xfrm>
              <a:off x="15316200" y="4915080"/>
              <a:ext cx="1218960" cy="1142640"/>
            </a:xfrm>
            <a:prstGeom prst="irregularSeal1">
              <a:avLst/>
            </a:prstGeom>
            <a:solidFill>
              <a:srgbClr val="ffbd00"/>
            </a:solidFill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6" name="Explosion: 8 Points 40"/>
            <p:cNvSpPr/>
            <p:nvPr/>
          </p:nvSpPr>
          <p:spPr>
            <a:xfrm>
              <a:off x="15316200" y="3238560"/>
              <a:ext cx="1218960" cy="1142640"/>
            </a:xfrm>
            <a:prstGeom prst="irregularSeal1">
              <a:avLst/>
            </a:prstGeom>
            <a:solidFill>
              <a:srgbClr val="ffbd00"/>
            </a:solidFill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7" name="Explosion: 8 Points 42"/>
            <p:cNvSpPr/>
            <p:nvPr/>
          </p:nvSpPr>
          <p:spPr>
            <a:xfrm>
              <a:off x="15316200" y="8344080"/>
              <a:ext cx="1218960" cy="1142640"/>
            </a:xfrm>
            <a:prstGeom prst="irregularSeal1">
              <a:avLst/>
            </a:prstGeom>
            <a:solidFill>
              <a:srgbClr val="ffbd00"/>
            </a:solidFill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8" name="Explosion: 8 Points 44"/>
            <p:cNvSpPr/>
            <p:nvPr/>
          </p:nvSpPr>
          <p:spPr>
            <a:xfrm>
              <a:off x="15316200" y="6667560"/>
              <a:ext cx="1218960" cy="1142640"/>
            </a:xfrm>
            <a:prstGeom prst="irregularSeal1">
              <a:avLst/>
            </a:prstGeom>
            <a:solidFill>
              <a:srgbClr val="ffbd00"/>
            </a:solidFill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109" name="Group 54"/>
          <p:cNvGrpSpPr/>
          <p:nvPr/>
        </p:nvGrpSpPr>
        <p:grpSpPr>
          <a:xfrm>
            <a:off x="14096880" y="3696120"/>
            <a:ext cx="1036080" cy="4878720"/>
            <a:chOff x="14096880" y="3696120"/>
            <a:chExt cx="1036080" cy="4878720"/>
          </a:xfrm>
        </p:grpSpPr>
        <p:sp>
          <p:nvSpPr>
            <p:cNvPr id="110" name="Arrow: Right 46"/>
            <p:cNvSpPr/>
            <p:nvPr/>
          </p:nvSpPr>
          <p:spPr>
            <a:xfrm rot="20311800">
              <a:off x="14272200" y="3811320"/>
              <a:ext cx="761760" cy="68544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f1a38"/>
            </a:solidFill>
            <a:ln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1" name="Arrow: Right 47"/>
            <p:cNvSpPr/>
            <p:nvPr/>
          </p:nvSpPr>
          <p:spPr>
            <a:xfrm flipV="1" rot="1288200">
              <a:off x="14195520" y="7773480"/>
              <a:ext cx="761760" cy="68508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f1a38"/>
            </a:solidFill>
            <a:ln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2" name="Arrow: Right 49"/>
            <p:cNvSpPr/>
            <p:nvPr/>
          </p:nvSpPr>
          <p:spPr>
            <a:xfrm flipV="1">
              <a:off x="14249520" y="6896160"/>
              <a:ext cx="761760" cy="68544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f1a38"/>
            </a:solidFill>
            <a:ln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3" name="Arrow: Right 50"/>
            <p:cNvSpPr/>
            <p:nvPr/>
          </p:nvSpPr>
          <p:spPr>
            <a:xfrm flipV="1">
              <a:off x="14325480" y="4838760"/>
              <a:ext cx="761760" cy="68544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f1a38"/>
            </a:solidFill>
            <a:ln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114" name="Group 52"/>
          <p:cNvGrpSpPr/>
          <p:nvPr/>
        </p:nvGrpSpPr>
        <p:grpSpPr>
          <a:xfrm>
            <a:off x="11734920" y="4991400"/>
            <a:ext cx="959760" cy="1983240"/>
            <a:chOff x="11734920" y="4991400"/>
            <a:chExt cx="959760" cy="1983240"/>
          </a:xfrm>
        </p:grpSpPr>
        <p:sp>
          <p:nvSpPr>
            <p:cNvPr id="115" name="Arrow: Right 45"/>
            <p:cNvSpPr/>
            <p:nvPr/>
          </p:nvSpPr>
          <p:spPr>
            <a:xfrm rot="20311800">
              <a:off x="11833920" y="5106600"/>
              <a:ext cx="761760" cy="68544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f1a38"/>
            </a:solidFill>
            <a:ln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6" name="Arrow: Right 51"/>
            <p:cNvSpPr/>
            <p:nvPr/>
          </p:nvSpPr>
          <p:spPr>
            <a:xfrm flipV="1" rot="1288200">
              <a:off x="11833560" y="6173280"/>
              <a:ext cx="761760" cy="68508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f1a38"/>
            </a:solidFill>
            <a:ln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nodeType="afterEffect" fill="hold" presetClass="entr" presetID="1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0"/>
                            </p:stCondLst>
                            <p:childTnLst>
                              <p:par>
                                <p:cTn id="11" nodeType="afterEffect" fill="hold" presetClass="entr" presetID="1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000"/>
                            </p:stCondLst>
                            <p:childTnLst>
                              <p:par>
                                <p:cTn id="14" nodeType="afterEffect" fill="hold" presetClass="entr" presetID="1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000"/>
                            </p:stCondLst>
                            <p:childTnLst>
                              <p:par>
                                <p:cTn id="17" nodeType="afterEffect" fill="hold" presetClass="entr" presetID="1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00"/>
                            </p:stCondLst>
                            <p:childTnLst>
                              <p:par>
                                <p:cTn id="20" nodeType="afterEffect" fill="hold" presetClass="entr" presetID="1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Box 6"/>
          <p:cNvSpPr/>
          <p:nvPr/>
        </p:nvSpPr>
        <p:spPr>
          <a:xfrm>
            <a:off x="887040" y="731520"/>
            <a:ext cx="14287320" cy="13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Satellite </a:t>
            </a:r>
            <a:r>
              <a:rPr b="1" lang="en-US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Launch Trends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8" name="Picture 4" descr="A graph with lines and numbers&#10;&#10;AI-generated content may be incorrect."/>
          <p:cNvPicPr/>
          <p:nvPr/>
        </p:nvPicPr>
        <p:blipFill>
          <a:blip r:embed="rId1"/>
          <a:stretch/>
        </p:blipFill>
        <p:spPr>
          <a:xfrm>
            <a:off x="334080" y="2366280"/>
            <a:ext cx="13182120" cy="7689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" descr=""/>
          <p:cNvPicPr/>
          <p:nvPr/>
        </p:nvPicPr>
        <p:blipFill>
          <a:blip r:embed="rId1"/>
          <a:stretch/>
        </p:blipFill>
        <p:spPr>
          <a:xfrm>
            <a:off x="432000" y="2300400"/>
            <a:ext cx="17160480" cy="7542000"/>
          </a:xfrm>
          <a:prstGeom prst="rect">
            <a:avLst/>
          </a:prstGeom>
          <a:ln w="0">
            <a:noFill/>
          </a:ln>
        </p:spPr>
      </p:pic>
      <p:sp>
        <p:nvSpPr>
          <p:cNvPr id="120" name="TextBox 22"/>
          <p:cNvSpPr/>
          <p:nvPr/>
        </p:nvSpPr>
        <p:spPr>
          <a:xfrm>
            <a:off x="887040" y="731520"/>
            <a:ext cx="14287320" cy="13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What’s up </a:t>
            </a:r>
            <a:r>
              <a:rPr b="1" lang="en-US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in Orbit?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Box 25"/>
          <p:cNvSpPr/>
          <p:nvPr/>
        </p:nvSpPr>
        <p:spPr>
          <a:xfrm>
            <a:off x="13471920" y="1051560"/>
            <a:ext cx="4333680" cy="9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Count of Objects In Low Earth Orbit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2" name="" descr=""/>
          <p:cNvPicPr/>
          <p:nvPr/>
        </p:nvPicPr>
        <p:blipFill>
          <a:blip r:embed="rId2"/>
          <a:stretch/>
        </p:blipFill>
        <p:spPr>
          <a:xfrm>
            <a:off x="12032640" y="3332520"/>
            <a:ext cx="6026760" cy="4668480"/>
          </a:xfrm>
          <a:prstGeom prst="rect">
            <a:avLst/>
          </a:prstGeom>
          <a:ln w="0">
            <a:noFill/>
          </a:ln>
        </p:spPr>
      </p:pic>
      <p:pic>
        <p:nvPicPr>
          <p:cNvPr id="123" name="" descr=""/>
          <p:cNvPicPr/>
          <p:nvPr/>
        </p:nvPicPr>
        <p:blipFill>
          <a:blip r:embed="rId3"/>
          <a:stretch/>
        </p:blipFill>
        <p:spPr>
          <a:xfrm>
            <a:off x="7086600" y="3441600"/>
            <a:ext cx="4794840" cy="4572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1"/>
          <p:cNvSpPr/>
          <p:nvPr/>
        </p:nvSpPr>
        <p:spPr>
          <a:xfrm>
            <a:off x="887040" y="731520"/>
            <a:ext cx="14287320" cy="13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What’s up </a:t>
            </a:r>
            <a:r>
              <a:rPr b="1" lang="en-US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in Orbit?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Box 31"/>
          <p:cNvSpPr/>
          <p:nvPr/>
        </p:nvSpPr>
        <p:spPr>
          <a:xfrm>
            <a:off x="887040" y="731520"/>
            <a:ext cx="14287320" cy="13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Operators and </a:t>
            </a:r>
            <a:r>
              <a:rPr b="1" lang="en-US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Origins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Box 26"/>
          <p:cNvSpPr/>
          <p:nvPr/>
        </p:nvSpPr>
        <p:spPr>
          <a:xfrm>
            <a:off x="887040" y="731520"/>
            <a:ext cx="14287320" cy="13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Operators and </a:t>
            </a:r>
            <a:r>
              <a:rPr b="1" lang="en-US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Origins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7" name="" descr=""/>
          <p:cNvPicPr/>
          <p:nvPr/>
        </p:nvPicPr>
        <p:blipFill>
          <a:blip r:embed="rId1"/>
          <a:stretch/>
        </p:blipFill>
        <p:spPr>
          <a:xfrm>
            <a:off x="349200" y="2570400"/>
            <a:ext cx="10844280" cy="7223400"/>
          </a:xfrm>
          <a:prstGeom prst="rect">
            <a:avLst/>
          </a:prstGeom>
          <a:ln w="0">
            <a:noFill/>
          </a:ln>
        </p:spPr>
      </p:pic>
      <p:sp>
        <p:nvSpPr>
          <p:cNvPr id="128" name="TextBox 32"/>
          <p:cNvSpPr/>
          <p:nvPr/>
        </p:nvSpPr>
        <p:spPr>
          <a:xfrm>
            <a:off x="13569120" y="1058400"/>
            <a:ext cx="4333680" cy="97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Mass of Payloads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In Low Earth Orbit 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9" name="" descr=""/>
          <p:cNvPicPr/>
          <p:nvPr/>
        </p:nvPicPr>
        <p:blipFill>
          <a:blip r:embed="rId2"/>
          <a:stretch/>
        </p:blipFill>
        <p:spPr>
          <a:xfrm>
            <a:off x="4702680" y="4114800"/>
            <a:ext cx="5812920" cy="4632840"/>
          </a:xfrm>
          <a:prstGeom prst="rect">
            <a:avLst/>
          </a:prstGeom>
          <a:ln w="0">
            <a:noFill/>
          </a:ln>
        </p:spPr>
      </p:pic>
      <p:pic>
        <p:nvPicPr>
          <p:cNvPr id="130" name="" descr=""/>
          <p:cNvPicPr/>
          <p:nvPr/>
        </p:nvPicPr>
        <p:blipFill>
          <a:blip r:embed="rId3"/>
          <a:stretch/>
        </p:blipFill>
        <p:spPr>
          <a:xfrm>
            <a:off x="11505600" y="2599200"/>
            <a:ext cx="6217200" cy="7315200"/>
          </a:xfrm>
          <a:prstGeom prst="rect">
            <a:avLst/>
          </a:prstGeom>
          <a:ln w="0">
            <a:noFill/>
          </a:ln>
        </p:spPr>
      </p:pic>
      <p:sp>
        <p:nvSpPr>
          <p:cNvPr id="131" name=""/>
          <p:cNvSpPr txBox="1"/>
          <p:nvPr/>
        </p:nvSpPr>
        <p:spPr>
          <a:xfrm>
            <a:off x="8298720" y="7772400"/>
            <a:ext cx="381708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highlight>
                  <a:srgbClr val="bbe33d"/>
                </a:highlight>
                <a:latin typeface="Arial"/>
              </a:rPr>
              <a:t>THESE COLOURS DON’T MATCH!</a:t>
            </a:r>
            <a:endParaRPr b="0" lang="en-US" sz="1800" spc="-1" strike="noStrike">
              <a:solidFill>
                <a:srgbClr val="000000"/>
              </a:solidFill>
              <a:highlight>
                <a:srgbClr val="bbe33d"/>
              </a:highlight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Box 6"/>
          <p:cNvSpPr/>
          <p:nvPr/>
        </p:nvSpPr>
        <p:spPr>
          <a:xfrm>
            <a:off x="1028880" y="1019160"/>
            <a:ext cx="14287320" cy="13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Lifespan and </a:t>
            </a:r>
            <a:r>
              <a:rPr b="1" lang="en-US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Litter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Box 7"/>
          <p:cNvSpPr/>
          <p:nvPr/>
        </p:nvSpPr>
        <p:spPr>
          <a:xfrm>
            <a:off x="1028880" y="4005360"/>
            <a:ext cx="38703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One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Box 8"/>
          <p:cNvSpPr/>
          <p:nvPr/>
        </p:nvSpPr>
        <p:spPr>
          <a:xfrm>
            <a:off x="5283720" y="4005360"/>
            <a:ext cx="40323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Two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Box 9"/>
          <p:cNvSpPr/>
          <p:nvPr/>
        </p:nvSpPr>
        <p:spPr>
          <a:xfrm>
            <a:off x="1028880" y="6998400"/>
            <a:ext cx="38703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Three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5283720" y="6998400"/>
            <a:ext cx="40323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Four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028880" y="4686840"/>
            <a:ext cx="387036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Box 12"/>
          <p:cNvSpPr/>
          <p:nvPr/>
        </p:nvSpPr>
        <p:spPr>
          <a:xfrm>
            <a:off x="5283720" y="4686840"/>
            <a:ext cx="387036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Box 13"/>
          <p:cNvSpPr/>
          <p:nvPr/>
        </p:nvSpPr>
        <p:spPr>
          <a:xfrm>
            <a:off x="1028880" y="7679880"/>
            <a:ext cx="397980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Box 14"/>
          <p:cNvSpPr/>
          <p:nvPr/>
        </p:nvSpPr>
        <p:spPr>
          <a:xfrm>
            <a:off x="5283720" y="7679880"/>
            <a:ext cx="397980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6"/>
          <p:cNvSpPr/>
          <p:nvPr/>
        </p:nvSpPr>
        <p:spPr>
          <a:xfrm>
            <a:off x="1028880" y="1019160"/>
            <a:ext cx="14287320" cy="13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Collision </a:t>
            </a:r>
            <a:r>
              <a:rPr b="1" lang="en-US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Risk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Box 7"/>
          <p:cNvSpPr/>
          <p:nvPr/>
        </p:nvSpPr>
        <p:spPr>
          <a:xfrm>
            <a:off x="1028880" y="4005360"/>
            <a:ext cx="38703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One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Box 8"/>
          <p:cNvSpPr/>
          <p:nvPr/>
        </p:nvSpPr>
        <p:spPr>
          <a:xfrm>
            <a:off x="5283720" y="4005360"/>
            <a:ext cx="40323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Two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9"/>
          <p:cNvSpPr/>
          <p:nvPr/>
        </p:nvSpPr>
        <p:spPr>
          <a:xfrm>
            <a:off x="1028880" y="6998400"/>
            <a:ext cx="38703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Three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Box 10"/>
          <p:cNvSpPr/>
          <p:nvPr/>
        </p:nvSpPr>
        <p:spPr>
          <a:xfrm>
            <a:off x="5283720" y="6998400"/>
            <a:ext cx="40323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Four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Box 11"/>
          <p:cNvSpPr/>
          <p:nvPr/>
        </p:nvSpPr>
        <p:spPr>
          <a:xfrm>
            <a:off x="1028880" y="4686840"/>
            <a:ext cx="387036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Box 12"/>
          <p:cNvSpPr/>
          <p:nvPr/>
        </p:nvSpPr>
        <p:spPr>
          <a:xfrm>
            <a:off x="5283720" y="4686840"/>
            <a:ext cx="387036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Box 13"/>
          <p:cNvSpPr/>
          <p:nvPr/>
        </p:nvSpPr>
        <p:spPr>
          <a:xfrm>
            <a:off x="1028880" y="7679880"/>
            <a:ext cx="397980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TextBox 14"/>
          <p:cNvSpPr/>
          <p:nvPr/>
        </p:nvSpPr>
        <p:spPr>
          <a:xfrm>
            <a:off x="5283720" y="7679880"/>
            <a:ext cx="397980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TextBox 6"/>
          <p:cNvSpPr/>
          <p:nvPr/>
        </p:nvSpPr>
        <p:spPr>
          <a:xfrm>
            <a:off x="1028880" y="1019160"/>
            <a:ext cx="14287320" cy="13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What is </a:t>
            </a:r>
            <a:r>
              <a:rPr b="1" lang="en-US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at Stake?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7"/>
          <p:cNvSpPr/>
          <p:nvPr/>
        </p:nvSpPr>
        <p:spPr>
          <a:xfrm>
            <a:off x="1028880" y="4005360"/>
            <a:ext cx="38703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One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TextBox 8"/>
          <p:cNvSpPr/>
          <p:nvPr/>
        </p:nvSpPr>
        <p:spPr>
          <a:xfrm>
            <a:off x="5283720" y="4005360"/>
            <a:ext cx="40323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Two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TextBox 9"/>
          <p:cNvSpPr/>
          <p:nvPr/>
        </p:nvSpPr>
        <p:spPr>
          <a:xfrm>
            <a:off x="1028880" y="6998400"/>
            <a:ext cx="38703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Three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Box 10"/>
          <p:cNvSpPr/>
          <p:nvPr/>
        </p:nvSpPr>
        <p:spPr>
          <a:xfrm>
            <a:off x="5283720" y="6998400"/>
            <a:ext cx="40323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Four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Box 11"/>
          <p:cNvSpPr/>
          <p:nvPr/>
        </p:nvSpPr>
        <p:spPr>
          <a:xfrm>
            <a:off x="1028880" y="4686840"/>
            <a:ext cx="387036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Box 12"/>
          <p:cNvSpPr/>
          <p:nvPr/>
        </p:nvSpPr>
        <p:spPr>
          <a:xfrm>
            <a:off x="5283720" y="4686840"/>
            <a:ext cx="3870360" cy="38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br>
              <a:rPr sz="2400"/>
            </a:br>
            <a:br>
              <a:rPr sz="2400"/>
            </a:b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https://arstechnica.com/space/2025/11/landing-postponed-for-chinese-astronauts-after-suspected-space-debris-strike/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Box 13"/>
          <p:cNvSpPr/>
          <p:nvPr/>
        </p:nvSpPr>
        <p:spPr>
          <a:xfrm>
            <a:off x="1028880" y="7679880"/>
            <a:ext cx="397980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Box 14"/>
          <p:cNvSpPr/>
          <p:nvPr/>
        </p:nvSpPr>
        <p:spPr>
          <a:xfrm>
            <a:off x="5283720" y="7679880"/>
            <a:ext cx="397980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Box 6"/>
          <p:cNvSpPr/>
          <p:nvPr/>
        </p:nvSpPr>
        <p:spPr>
          <a:xfrm>
            <a:off x="1028880" y="1019160"/>
            <a:ext cx="14287320" cy="13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Stop it </a:t>
            </a:r>
            <a:r>
              <a:rPr b="1" lang="en-US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and Tidy up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Box 7"/>
          <p:cNvSpPr/>
          <p:nvPr/>
        </p:nvSpPr>
        <p:spPr>
          <a:xfrm>
            <a:off x="1028880" y="4005360"/>
            <a:ext cx="38703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One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Box 8"/>
          <p:cNvSpPr/>
          <p:nvPr/>
        </p:nvSpPr>
        <p:spPr>
          <a:xfrm>
            <a:off x="5283720" y="4005360"/>
            <a:ext cx="40323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Two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9"/>
          <p:cNvSpPr/>
          <p:nvPr/>
        </p:nvSpPr>
        <p:spPr>
          <a:xfrm>
            <a:off x="1028880" y="6998400"/>
            <a:ext cx="38703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Three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TextBox 10"/>
          <p:cNvSpPr/>
          <p:nvPr/>
        </p:nvSpPr>
        <p:spPr>
          <a:xfrm>
            <a:off x="5283720" y="6998400"/>
            <a:ext cx="40323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Four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Box 11"/>
          <p:cNvSpPr/>
          <p:nvPr/>
        </p:nvSpPr>
        <p:spPr>
          <a:xfrm>
            <a:off x="1028880" y="4686840"/>
            <a:ext cx="387036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Box 12"/>
          <p:cNvSpPr/>
          <p:nvPr/>
        </p:nvSpPr>
        <p:spPr>
          <a:xfrm>
            <a:off x="5283720" y="4686840"/>
            <a:ext cx="387036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Box 13"/>
          <p:cNvSpPr/>
          <p:nvPr/>
        </p:nvSpPr>
        <p:spPr>
          <a:xfrm>
            <a:off x="1028880" y="7679880"/>
            <a:ext cx="397980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Box 14"/>
          <p:cNvSpPr/>
          <p:nvPr/>
        </p:nvSpPr>
        <p:spPr>
          <a:xfrm>
            <a:off x="5283720" y="7679880"/>
            <a:ext cx="397980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Group 6"/>
          <p:cNvGrpSpPr/>
          <p:nvPr/>
        </p:nvGrpSpPr>
        <p:grpSpPr>
          <a:xfrm>
            <a:off x="7492320" y="3423240"/>
            <a:ext cx="2925720" cy="2925720"/>
            <a:chOff x="7492320" y="3423240"/>
            <a:chExt cx="2925720" cy="2925720"/>
          </a:xfrm>
        </p:grpSpPr>
        <p:sp>
          <p:nvSpPr>
            <p:cNvPr id="169" name="Freeform 7"/>
            <p:cNvSpPr/>
            <p:nvPr/>
          </p:nvSpPr>
          <p:spPr>
            <a:xfrm>
              <a:off x="7492320" y="3423240"/>
              <a:ext cx="2925720" cy="2925720"/>
            </a:xfrm>
            <a:custGeom>
              <a:avLst/>
              <a:gdLst>
                <a:gd name="textAreaLeft" fmla="*/ 0 w 2925720"/>
                <a:gd name="textAreaRight" fmla="*/ 2926080 w 2925720"/>
                <a:gd name="textAreaTop" fmla="*/ 0 h 2925720"/>
                <a:gd name="textAreaBottom" fmla="*/ 2926080 h 2925720"/>
              </a:gdLst>
              <a:ahLst/>
              <a:rect l="textAreaLeft" t="textAreaTop" r="textAreaRight" b="textAreaBottom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 rotWithShape="0">
              <a:blip r:embed="rId1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dk1"/>
                </a:solidFill>
                <a:latin typeface="Calibri"/>
              </a:endParaRPr>
            </a:p>
          </p:txBody>
        </p:sp>
      </p:grpSp>
      <p:grpSp>
        <p:nvGrpSpPr>
          <p:cNvPr id="170" name="Group 8"/>
          <p:cNvGrpSpPr/>
          <p:nvPr/>
        </p:nvGrpSpPr>
        <p:grpSpPr>
          <a:xfrm>
            <a:off x="3193920" y="3423240"/>
            <a:ext cx="2925720" cy="2925720"/>
            <a:chOff x="3193920" y="3423240"/>
            <a:chExt cx="2925720" cy="2925720"/>
          </a:xfrm>
        </p:grpSpPr>
        <p:sp>
          <p:nvSpPr>
            <p:cNvPr id="171" name="Freeform 9"/>
            <p:cNvSpPr/>
            <p:nvPr/>
          </p:nvSpPr>
          <p:spPr>
            <a:xfrm>
              <a:off x="3193920" y="3423240"/>
              <a:ext cx="2925720" cy="2925720"/>
            </a:xfrm>
            <a:custGeom>
              <a:avLst/>
              <a:gdLst>
                <a:gd name="textAreaLeft" fmla="*/ 0 w 2925720"/>
                <a:gd name="textAreaRight" fmla="*/ 2926080 w 2925720"/>
                <a:gd name="textAreaTop" fmla="*/ 0 h 2925720"/>
                <a:gd name="textAreaBottom" fmla="*/ 2926080 h 2925720"/>
              </a:gdLst>
              <a:ahLst/>
              <a:rect l="textAreaLeft" t="textAreaTop" r="textAreaRight" b="textAreaBottom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dk1"/>
                </a:solidFill>
                <a:latin typeface="Calibri"/>
              </a:endParaRPr>
            </a:p>
          </p:txBody>
        </p:sp>
      </p:grpSp>
      <p:grpSp>
        <p:nvGrpSpPr>
          <p:cNvPr id="172" name="Group 10"/>
          <p:cNvGrpSpPr/>
          <p:nvPr/>
        </p:nvGrpSpPr>
        <p:grpSpPr>
          <a:xfrm>
            <a:off x="11790720" y="3423240"/>
            <a:ext cx="2925720" cy="2925720"/>
            <a:chOff x="11790720" y="3423240"/>
            <a:chExt cx="2925720" cy="2925720"/>
          </a:xfrm>
        </p:grpSpPr>
        <p:sp>
          <p:nvSpPr>
            <p:cNvPr id="173" name="Freeform 11"/>
            <p:cNvSpPr/>
            <p:nvPr/>
          </p:nvSpPr>
          <p:spPr>
            <a:xfrm>
              <a:off x="11790720" y="3423240"/>
              <a:ext cx="2925720" cy="2925720"/>
            </a:xfrm>
            <a:custGeom>
              <a:avLst/>
              <a:gdLst>
                <a:gd name="textAreaLeft" fmla="*/ 0 w 2925720"/>
                <a:gd name="textAreaRight" fmla="*/ 2926080 w 2925720"/>
                <a:gd name="textAreaTop" fmla="*/ 0 h 2925720"/>
                <a:gd name="textAreaBottom" fmla="*/ 2926080 h 2925720"/>
              </a:gdLst>
              <a:ahLst/>
              <a:rect l="textAreaLeft" t="textAreaTop" r="textAreaRight" b="textAreaBottom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dk1"/>
                </a:solidFill>
                <a:latin typeface="Calibri"/>
              </a:endParaRPr>
            </a:p>
          </p:txBody>
        </p:sp>
      </p:grpSp>
      <p:sp>
        <p:nvSpPr>
          <p:cNvPr id="174" name="TextBox 12"/>
          <p:cNvSpPr/>
          <p:nvPr/>
        </p:nvSpPr>
        <p:spPr>
          <a:xfrm>
            <a:off x="890280" y="1019160"/>
            <a:ext cx="16507080" cy="13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0800"/>
              </a:lnSpc>
              <a:tabLst>
                <a:tab algn="l" pos="0"/>
              </a:tabLst>
            </a:pPr>
            <a:r>
              <a:rPr b="1" lang="en-US" sz="9000" spc="-378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Key </a:t>
            </a:r>
            <a:r>
              <a:rPr b="1" lang="en-US" sz="9000" spc="-378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figures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Box 15"/>
          <p:cNvSpPr/>
          <p:nvPr/>
        </p:nvSpPr>
        <p:spPr>
          <a:xfrm>
            <a:off x="7302240" y="6819480"/>
            <a:ext cx="330588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Scientist name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TextBox 16"/>
          <p:cNvSpPr/>
          <p:nvPr/>
        </p:nvSpPr>
        <p:spPr>
          <a:xfrm>
            <a:off x="7302240" y="7610400"/>
            <a:ext cx="330588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17"/>
          <p:cNvSpPr/>
          <p:nvPr/>
        </p:nvSpPr>
        <p:spPr>
          <a:xfrm>
            <a:off x="3003840" y="6819480"/>
            <a:ext cx="330588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Scientist name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TextBox 18"/>
          <p:cNvSpPr/>
          <p:nvPr/>
        </p:nvSpPr>
        <p:spPr>
          <a:xfrm>
            <a:off x="3003840" y="7610400"/>
            <a:ext cx="330588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Box 19"/>
          <p:cNvSpPr/>
          <p:nvPr/>
        </p:nvSpPr>
        <p:spPr>
          <a:xfrm>
            <a:off x="11600640" y="6819480"/>
            <a:ext cx="330588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Scientist name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TextBox 20"/>
          <p:cNvSpPr/>
          <p:nvPr/>
        </p:nvSpPr>
        <p:spPr>
          <a:xfrm>
            <a:off x="11600640" y="7610400"/>
            <a:ext cx="330588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Box 6"/>
          <p:cNvSpPr/>
          <p:nvPr/>
        </p:nvSpPr>
        <p:spPr>
          <a:xfrm>
            <a:off x="1028880" y="1019160"/>
            <a:ext cx="14287320" cy="13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en-US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In </a:t>
            </a:r>
            <a:r>
              <a:rPr b="1" lang="en-US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Conclusion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Box 7"/>
          <p:cNvSpPr/>
          <p:nvPr/>
        </p:nvSpPr>
        <p:spPr>
          <a:xfrm>
            <a:off x="1028880" y="4005360"/>
            <a:ext cx="38703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One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TextBox 8"/>
          <p:cNvSpPr/>
          <p:nvPr/>
        </p:nvSpPr>
        <p:spPr>
          <a:xfrm>
            <a:off x="5283720" y="4005360"/>
            <a:ext cx="40323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Two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TextBox 9"/>
          <p:cNvSpPr/>
          <p:nvPr/>
        </p:nvSpPr>
        <p:spPr>
          <a:xfrm>
            <a:off x="1028880" y="6998400"/>
            <a:ext cx="38703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Three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Box 10"/>
          <p:cNvSpPr/>
          <p:nvPr/>
        </p:nvSpPr>
        <p:spPr>
          <a:xfrm>
            <a:off x="5283720" y="6998400"/>
            <a:ext cx="40323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Service Four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TextBox 11"/>
          <p:cNvSpPr/>
          <p:nvPr/>
        </p:nvSpPr>
        <p:spPr>
          <a:xfrm>
            <a:off x="1028880" y="4686840"/>
            <a:ext cx="387036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Box 12"/>
          <p:cNvSpPr/>
          <p:nvPr/>
        </p:nvSpPr>
        <p:spPr>
          <a:xfrm>
            <a:off x="5283720" y="4686840"/>
            <a:ext cx="387036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3"/>
          <p:cNvSpPr/>
          <p:nvPr/>
        </p:nvSpPr>
        <p:spPr>
          <a:xfrm>
            <a:off x="1028880" y="7679880"/>
            <a:ext cx="397980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Box 14"/>
          <p:cNvSpPr/>
          <p:nvPr/>
        </p:nvSpPr>
        <p:spPr>
          <a:xfrm>
            <a:off x="5283720" y="7679880"/>
            <a:ext cx="397980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Elaborate on what you want to discuss.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490</TotalTime>
  <Application>LibreOffice/24.2.7.2$Linux_X86_64 LibreOffice_project/420$Build-2</Application>
  <AppVersion>15.0000</AppVersion>
  <Words>1281</Words>
  <Paragraphs>198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DAG3TWXvXT0</dc:identifier>
  <dc:language>en-US</dc:language>
  <cp:lastModifiedBy/>
  <dcterms:modified xsi:type="dcterms:W3CDTF">2025-11-12T22:07:33Z</dcterms:modified>
  <cp:revision>8</cp:revision>
  <dc:subject/>
  <dc:title>From Launch to Litter: Orbital Overload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r8>31</vt:r8>
  </property>
</Properties>
</file>